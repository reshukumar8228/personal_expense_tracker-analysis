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gap this project fills. Most expense trackers are ledgers: they tell you where money went after it is gone. This platform adds a forecasting engine, live budget guardrails and a health score on top of the ledger. The screenshot on the right is the real dashboard running with the demo account, so everything you see in this deck comes from the live app, not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when they last knew their next month's spending before the month started. Most people check a bank balance at the end of the month and work backwards. The three pain points here are really one problem seen from different angles: no foresight, no early warning on creeping costs, and no single place where the data lives. The bottom strip is the before and after we will build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pillar answers one of the problems from the last slide. The Health Index is a single number that blends savings rate, expense-to-income ratio and budget adherence, so you can read the state of your finances in a glance. Forecasting is what separates this from a ledger: it looks forward. The numbers in the strip under the screenshot come from the demo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The onboarding screenshot is worth pausing on: the Instant Demo Access button under the login card is how any evaluator can get inside with six months of realistic data and no setup. After that the flow is capture, monitor, forecast, optimize, and each stage maps to a module you will see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highlight is the bottom layer. db.py hands back either a wrapped PostgreSQL connection or a native SQLite one, and the cursor wrapper translates SQL dialects on the fly, for example swapping the question-mark placeholders for percent-s and adding RETURNING id to inserts. That means the ten modules above it never know which engine they are talking to. If the cloud database cannot be reached, the app logs a warning and carries on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library has one clear job. Pandas and NumPy handle the time-series work, Plotly draws the charts, scikit-learn does the forecasting, and FPDF2 plus OpenPyXL produce the exports. The database is deliberately two engines behind one interface. The settings screenshot on the right shows the account area; currency and theme live under the Preferences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transactions hub is where auditability lives. The filter panel narrows the ledger by type, category, payment method, date range and a text search on notes, and the summary bar recalculates as you filter. Clicking a row opens the edit or delete card below the table. The budget bars use three states so that a category turns amber before it turns red. The strip at the bottom is the data pipeline from any input source through validation into the database and out to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scikit-learn regression, not a rule of thumb. It trains on three features, the time step, last month's spend and a three-month rolling average, then reports a point estimate with a range based on the residual spread. In the demo account the model projects about 2,352 rupees, up 8.6 percent on last month, so the trajectory reads Increasing. The Insights page runs a 50/30/20 check and an anomaly detector; for this account neither found a problem, which is itself a good demo of the empty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seven charts are visible in this screenshot; the other analytics charts sit behind the sub-tabs along the top, and the donut lives on the dashboard. The heatmap is the one to demo live: it shows spending by day of week across the weeks of a month, so weekend overspending jumps out. The box plot does a similar job for outliers within a category. A date range filter at the top of the page applies to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deliberately simple: push to GitHub and Streamlit Community Cloud rebuilds the container from requirements.txt. The database connection string is injected as a secret and never committed. The fallback is the reliability story, but be precise about it: it keeps the app available if the cloud database is unreachable, though local SQLite data is separate from the cloud data. Two honest gaps to mention if asked: there is no Dockerfile in the repository yet, and remote database latency was not benchmarked.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 tracking without goals is only half the picture, so each savings goal gets its own card with a progress bar and a deposit popover that updates progress immediately. Note the Japan Vacation goal has a target date of mid October, so it is a nice example of a goal that is behind pace. On the right, the import side validates dates, types and amounts before anything touches the database. The export tabs next to it produce the Excel workbook and the PDF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separating what is delivered from what is planned. Everything in the first two columns is implemented and tested; the roadmap column is clearly labelled planned. The limitations strip is there on purpose: synchronous training is fine at this data size but would need background workers at scale, and the lack of MFA is the most important security gap. Finish by offering the live demo, since the Instant Demo button makes it a ten-second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jp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2B"/>
        </a:solidFill>
      </p:bgPr>
    </p:bg>
    <p:spTree>
      <p:nvGrpSpPr>
        <p:cNvPr id="1" name=""/>
        <p:cNvGrpSpPr/>
        <p:nvPr/>
      </p:nvGrpSpPr>
      <p:grpSpPr>
        <a:xfrm>
          <a:off x="0" y="0"/>
          <a:ext cx="0" cy="0"/>
          <a:chOff x="0" y="0"/>
          <a:chExt cx="0" cy="0"/>
        </a:xfrm>
      </p:grpSpPr>
      <p:sp>
        <p:nvSpPr>
          <p:cNvPr id="2" name="Shape 0"/>
          <p:cNvSpPr/>
          <p:nvPr/>
        </p:nvSpPr>
        <p:spPr>
          <a:xfrm>
            <a:off x="457200" y="822960"/>
            <a:ext cx="4572000" cy="5394960"/>
          </a:xfrm>
          <a:prstGeom prst="roundRect">
            <a:avLst>
              <a:gd name="adj" fmla="val 2000"/>
            </a:avLst>
          </a:prstGeom>
          <a:solidFill>
            <a:srgbClr val="151D4D"/>
          </a:solidFill>
          <a:ln w="12700">
            <a:solidFill>
              <a:srgbClr val="34458A"/>
            </a:solidFill>
            <a:prstDash val="solid"/>
          </a:ln>
        </p:spPr>
      </p:sp>
      <p:sp>
        <p:nvSpPr>
          <p:cNvPr id="3" name="Text 1"/>
          <p:cNvSpPr txBox="1"/>
          <p:nvPr/>
        </p:nvSpPr>
        <p:spPr>
          <a:xfrm>
            <a:off x="731520" y="1097280"/>
            <a:ext cx="4023360" cy="274320"/>
          </a:xfrm>
          <a:prstGeom prst="rect">
            <a:avLst/>
          </a:prstGeom>
          <a:noFill/>
          <a:ln/>
        </p:spPr>
        <p:txBody>
          <a:bodyPr wrap="square" lIns="0" tIns="0" rIns="0" bIns="0" rtlCol="0" anchor="t"/>
          <a:lstStyle/>
          <a:p>
            <a:pPr indent="0" marL="0">
              <a:buNone/>
            </a:pPr>
            <a:r>
              <a:rPr lang="en-US" sz="1100" b="1" spc="200" kern="0" dirty="0">
                <a:solidFill>
                  <a:srgbClr val="38BDF8"/>
                </a:solidFill>
                <a:latin typeface="Calibri" pitchFamily="34" charset="0"/>
                <a:ea typeface="Calibri" pitchFamily="34" charset="-122"/>
                <a:cs typeface="Calibri" pitchFamily="34" charset="-120"/>
              </a:rPr>
              <a:t>FINANCE &amp; INTELLIGENCE PLATFORM</a:t>
            </a:r>
            <a:endParaRPr lang="en-US" sz="1100" dirty="0"/>
          </a:p>
        </p:txBody>
      </p:sp>
      <p:sp>
        <p:nvSpPr>
          <p:cNvPr id="4" name="Text 2"/>
          <p:cNvSpPr txBox="1"/>
          <p:nvPr/>
        </p:nvSpPr>
        <p:spPr>
          <a:xfrm>
            <a:off x="731520" y="1417320"/>
            <a:ext cx="4023360" cy="10972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Personal Expense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Tracker</a:t>
            </a:r>
            <a:endParaRPr lang="en-US" sz="3400" dirty="0"/>
          </a:p>
        </p:txBody>
      </p:sp>
      <p:sp>
        <p:nvSpPr>
          <p:cNvPr id="5" name="Text 3"/>
          <p:cNvSpPr txBox="1"/>
          <p:nvPr/>
        </p:nvSpPr>
        <p:spPr>
          <a:xfrm>
            <a:off x="731520" y="2606040"/>
            <a:ext cx="4023360" cy="640080"/>
          </a:xfrm>
          <a:prstGeom prst="rect">
            <a:avLst/>
          </a:prstGeom>
          <a:noFill/>
          <a:ln/>
        </p:spPr>
        <p:txBody>
          <a:bodyPr wrap="square" lIns="0" tIns="0" rIns="0" bIns="0" rtlCol="0" anchor="t"/>
          <a:lstStyle/>
          <a:p>
            <a:pPr indent="0" marL="0">
              <a:buNone/>
            </a:pPr>
            <a:r>
              <a:rPr lang="en-US" sz="1500" dirty="0">
                <a:solidFill>
                  <a:srgbClr val="94A3B8"/>
                </a:solidFill>
                <a:latin typeface="Calibri" pitchFamily="34" charset="0"/>
                <a:ea typeface="Calibri" pitchFamily="34" charset="-122"/>
                <a:cs typeface="Calibri" pitchFamily="34" charset="-120"/>
              </a:rPr>
              <a:t>Production-grade personal financial intelligence &amp; ML forecasting</a:t>
            </a:r>
            <a:endParaRPr lang="en-US" sz="1500" dirty="0"/>
          </a:p>
        </p:txBody>
      </p:sp>
      <p:sp>
        <p:nvSpPr>
          <p:cNvPr id="6" name="Text 4"/>
          <p:cNvSpPr txBox="1"/>
          <p:nvPr/>
        </p:nvSpPr>
        <p:spPr>
          <a:xfrm>
            <a:off x="731520" y="3383280"/>
            <a:ext cx="402336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Executive dashboard + Health Index</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ML next-month forecasting</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Active budget guardrails</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7 interactive chart types</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PDF and Excel export</a:t>
            </a:r>
            <a:endParaRPr lang="en-US" sz="1400" dirty="0"/>
          </a:p>
        </p:txBody>
      </p:sp>
      <p:sp>
        <p:nvSpPr>
          <p:cNvPr id="7" name="Shape 5"/>
          <p:cNvSpPr/>
          <p:nvPr/>
        </p:nvSpPr>
        <p:spPr>
          <a:xfrm>
            <a:off x="731520" y="5257800"/>
            <a:ext cx="914400" cy="292608"/>
          </a:xfrm>
          <a:prstGeom prst="roundRect">
            <a:avLst>
              <a:gd name="adj" fmla="val 50000"/>
            </a:avLst>
          </a:prstGeom>
          <a:solidFill>
            <a:srgbClr val="34458A"/>
          </a:solidFill>
          <a:ln w="12700">
            <a:solidFill>
              <a:srgbClr val="34458A"/>
            </a:solidFill>
            <a:prstDash val="solid"/>
          </a:ln>
        </p:spPr>
      </p:sp>
      <p:sp>
        <p:nvSpPr>
          <p:cNvPr id="8" name="Text 6"/>
          <p:cNvSpPr txBox="1"/>
          <p:nvPr/>
        </p:nvSpPr>
        <p:spPr>
          <a:xfrm>
            <a:off x="731520" y="5257800"/>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9" name="Shape 7"/>
          <p:cNvSpPr/>
          <p:nvPr/>
        </p:nvSpPr>
        <p:spPr>
          <a:xfrm>
            <a:off x="1755648" y="5257800"/>
            <a:ext cx="1097280" cy="292608"/>
          </a:xfrm>
          <a:prstGeom prst="roundRect">
            <a:avLst>
              <a:gd name="adj" fmla="val 50000"/>
            </a:avLst>
          </a:prstGeom>
          <a:solidFill>
            <a:srgbClr val="34458A"/>
          </a:solidFill>
          <a:ln w="12700">
            <a:solidFill>
              <a:srgbClr val="34458A"/>
            </a:solidFill>
            <a:prstDash val="solid"/>
          </a:ln>
        </p:spPr>
      </p:sp>
      <p:sp>
        <p:nvSpPr>
          <p:cNvPr id="10" name="Text 8"/>
          <p:cNvSpPr txBox="1"/>
          <p:nvPr/>
        </p:nvSpPr>
        <p:spPr>
          <a:xfrm>
            <a:off x="1755648" y="5257800"/>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Streamlit</a:t>
            </a:r>
            <a:endParaRPr lang="en-US" sz="1100" dirty="0"/>
          </a:p>
        </p:txBody>
      </p:sp>
      <p:sp>
        <p:nvSpPr>
          <p:cNvPr id="11" name="Shape 9"/>
          <p:cNvSpPr/>
          <p:nvPr/>
        </p:nvSpPr>
        <p:spPr>
          <a:xfrm>
            <a:off x="2962656" y="5257800"/>
            <a:ext cx="914400" cy="292608"/>
          </a:xfrm>
          <a:prstGeom prst="roundRect">
            <a:avLst>
              <a:gd name="adj" fmla="val 50000"/>
            </a:avLst>
          </a:prstGeom>
          <a:solidFill>
            <a:srgbClr val="34458A"/>
          </a:solidFill>
          <a:ln w="12700">
            <a:solidFill>
              <a:srgbClr val="34458A"/>
            </a:solidFill>
            <a:prstDash val="solid"/>
          </a:ln>
        </p:spPr>
      </p:sp>
      <p:sp>
        <p:nvSpPr>
          <p:cNvPr id="12" name="Text 10"/>
          <p:cNvSpPr txBox="1"/>
          <p:nvPr/>
        </p:nvSpPr>
        <p:spPr>
          <a:xfrm>
            <a:off x="2962656" y="5257800"/>
            <a:ext cx="9144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Plotly</a:t>
            </a:r>
            <a:endParaRPr lang="en-US" sz="1100" dirty="0"/>
          </a:p>
        </p:txBody>
      </p:sp>
      <p:sp>
        <p:nvSpPr>
          <p:cNvPr id="13" name="Shape 11"/>
          <p:cNvSpPr/>
          <p:nvPr/>
        </p:nvSpPr>
        <p:spPr>
          <a:xfrm>
            <a:off x="731520" y="5641848"/>
            <a:ext cx="1280160" cy="292608"/>
          </a:xfrm>
          <a:prstGeom prst="roundRect">
            <a:avLst>
              <a:gd name="adj" fmla="val 50000"/>
            </a:avLst>
          </a:prstGeom>
          <a:solidFill>
            <a:srgbClr val="34458A"/>
          </a:solidFill>
          <a:ln w="12700">
            <a:solidFill>
              <a:srgbClr val="34458A"/>
            </a:solidFill>
            <a:prstDash val="solid"/>
          </a:ln>
        </p:spPr>
      </p:sp>
      <p:sp>
        <p:nvSpPr>
          <p:cNvPr id="14" name="Text 12"/>
          <p:cNvSpPr txBox="1"/>
          <p:nvPr/>
        </p:nvSpPr>
        <p:spPr>
          <a:xfrm>
            <a:off x="731520" y="5641848"/>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Scikit-Learn</a:t>
            </a:r>
            <a:endParaRPr lang="en-US" sz="1100" dirty="0"/>
          </a:p>
        </p:txBody>
      </p:sp>
      <p:sp>
        <p:nvSpPr>
          <p:cNvPr id="15" name="Shape 13"/>
          <p:cNvSpPr/>
          <p:nvPr/>
        </p:nvSpPr>
        <p:spPr>
          <a:xfrm>
            <a:off x="2121408" y="5641848"/>
            <a:ext cx="1097280" cy="292608"/>
          </a:xfrm>
          <a:prstGeom prst="roundRect">
            <a:avLst>
              <a:gd name="adj" fmla="val 50000"/>
            </a:avLst>
          </a:prstGeom>
          <a:solidFill>
            <a:srgbClr val="34458A"/>
          </a:solidFill>
          <a:ln w="12700">
            <a:solidFill>
              <a:srgbClr val="34458A"/>
            </a:solidFill>
            <a:prstDash val="solid"/>
          </a:ln>
        </p:spPr>
      </p:sp>
      <p:sp>
        <p:nvSpPr>
          <p:cNvPr id="16" name="Text 14"/>
          <p:cNvSpPr txBox="1"/>
          <p:nvPr/>
        </p:nvSpPr>
        <p:spPr>
          <a:xfrm>
            <a:off x="2121408" y="564184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Supabase</a:t>
            </a:r>
            <a:endParaRPr lang="en-US" sz="1100" dirty="0"/>
          </a:p>
        </p:txBody>
      </p:sp>
      <p:sp>
        <p:nvSpPr>
          <p:cNvPr id="17" name="Shape 15"/>
          <p:cNvSpPr/>
          <p:nvPr/>
        </p:nvSpPr>
        <p:spPr>
          <a:xfrm>
            <a:off x="3328416" y="5641848"/>
            <a:ext cx="868680" cy="292608"/>
          </a:xfrm>
          <a:prstGeom prst="roundRect">
            <a:avLst>
              <a:gd name="adj" fmla="val 50000"/>
            </a:avLst>
          </a:prstGeom>
          <a:solidFill>
            <a:srgbClr val="34458A"/>
          </a:solidFill>
          <a:ln w="12700">
            <a:solidFill>
              <a:srgbClr val="34458A"/>
            </a:solidFill>
            <a:prstDash val="solid"/>
          </a:ln>
        </p:spPr>
      </p:sp>
      <p:sp>
        <p:nvSpPr>
          <p:cNvPr id="18" name="Text 16"/>
          <p:cNvSpPr txBox="1"/>
          <p:nvPr/>
        </p:nvSpPr>
        <p:spPr>
          <a:xfrm>
            <a:off x="3328416" y="5641848"/>
            <a:ext cx="868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FPDF2</a:t>
            </a:r>
            <a:endParaRPr lang="en-US" sz="1100" dirty="0"/>
          </a:p>
        </p:txBody>
      </p:sp>
      <p:sp>
        <p:nvSpPr>
          <p:cNvPr id="19" name="Shape 17"/>
          <p:cNvSpPr/>
          <p:nvPr/>
        </p:nvSpPr>
        <p:spPr>
          <a:xfrm>
            <a:off x="5367528" y="822960"/>
            <a:ext cx="6455664" cy="4177284"/>
          </a:xfrm>
          <a:prstGeom prst="roundRect">
            <a:avLst>
              <a:gd name="adj" fmla="val 2189"/>
            </a:avLst>
          </a:prstGeom>
          <a:solidFill>
            <a:srgbClr val="151D4D"/>
          </a:solidFill>
          <a:ln w="15875">
            <a:solidFill>
              <a:srgbClr val="4169E1"/>
            </a:solidFill>
            <a:prstDash val="solid"/>
          </a:ln>
        </p:spPr>
      </p:sp>
      <p:pic>
        <p:nvPicPr>
          <p:cNvPr id="20" name="Image 0" descr="/home/claude/deck/02_dashboard_overview.jpg">    </p:cNvPr>
          <p:cNvPicPr>
            <a:picLocks noChangeAspect="1"/>
          </p:cNvPicPr>
          <p:nvPr/>
        </p:nvPicPr>
        <p:blipFill>
          <a:blip r:embed="rId1"/>
          <a:stretch>
            <a:fillRect/>
          </a:stretch>
        </p:blipFill>
        <p:spPr>
          <a:xfrm>
            <a:off x="5440680" y="896112"/>
            <a:ext cx="6309360" cy="4030980"/>
          </a:xfrm>
          <a:prstGeom prst="rect">
            <a:avLst/>
          </a:prstGeom>
        </p:spPr>
      </p:pic>
      <p:sp>
        <p:nvSpPr>
          <p:cNvPr id="21" name="Shape 18"/>
          <p:cNvSpPr/>
          <p:nvPr/>
        </p:nvSpPr>
        <p:spPr>
          <a:xfrm>
            <a:off x="5367528" y="5166360"/>
            <a:ext cx="1481328" cy="1051560"/>
          </a:xfrm>
          <a:prstGeom prst="roundRect">
            <a:avLst>
              <a:gd name="adj" fmla="val 8696"/>
            </a:avLst>
          </a:prstGeom>
          <a:solidFill>
            <a:srgbClr val="151D4D"/>
          </a:solidFill>
          <a:ln w="12700">
            <a:solidFill>
              <a:srgbClr val="34458A"/>
            </a:solidFill>
            <a:prstDash val="solid"/>
          </a:ln>
        </p:spPr>
      </p:sp>
      <p:sp>
        <p:nvSpPr>
          <p:cNvPr id="22" name="Text 19"/>
          <p:cNvSpPr txBox="1"/>
          <p:nvPr/>
        </p:nvSpPr>
        <p:spPr>
          <a:xfrm>
            <a:off x="5367528" y="5257800"/>
            <a:ext cx="1481328" cy="502920"/>
          </a:xfrm>
          <a:prstGeom prst="rect">
            <a:avLst/>
          </a:prstGeom>
          <a:noFill/>
          <a:ln/>
        </p:spPr>
        <p:txBody>
          <a:bodyPr wrap="square" lIns="0" tIns="0" rIns="0" bIns="0" rtlCol="0" anchor="ctr"/>
          <a:lstStyle/>
          <a:p>
            <a:pPr algn="ctr" indent="0" marL="0">
              <a:buNone/>
            </a:pPr>
            <a:r>
              <a:rPr lang="en-US" sz="3000" b="1" dirty="0">
                <a:solidFill>
                  <a:srgbClr val="38BDF8"/>
                </a:solidFill>
                <a:latin typeface="Calibri" pitchFamily="34" charset="0"/>
                <a:ea typeface="Calibri" pitchFamily="34" charset="-122"/>
                <a:cs typeface="Calibri" pitchFamily="34" charset="-120"/>
              </a:rPr>
              <a:t>10</a:t>
            </a:r>
            <a:endParaRPr lang="en-US" sz="3000" dirty="0"/>
          </a:p>
        </p:txBody>
      </p:sp>
      <p:sp>
        <p:nvSpPr>
          <p:cNvPr id="23" name="Text 20"/>
          <p:cNvSpPr txBox="1"/>
          <p:nvPr/>
        </p:nvSpPr>
        <p:spPr>
          <a:xfrm>
            <a:off x="5367528" y="5779008"/>
            <a:ext cx="1481328" cy="27432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Modules</a:t>
            </a:r>
            <a:endParaRPr lang="en-US" sz="1200" dirty="0"/>
          </a:p>
        </p:txBody>
      </p:sp>
      <p:sp>
        <p:nvSpPr>
          <p:cNvPr id="24" name="Shape 21"/>
          <p:cNvSpPr/>
          <p:nvPr/>
        </p:nvSpPr>
        <p:spPr>
          <a:xfrm>
            <a:off x="6940296" y="5166360"/>
            <a:ext cx="1481328" cy="1051560"/>
          </a:xfrm>
          <a:prstGeom prst="roundRect">
            <a:avLst>
              <a:gd name="adj" fmla="val 8696"/>
            </a:avLst>
          </a:prstGeom>
          <a:solidFill>
            <a:srgbClr val="151D4D"/>
          </a:solidFill>
          <a:ln w="12700">
            <a:solidFill>
              <a:srgbClr val="34458A"/>
            </a:solidFill>
            <a:prstDash val="solid"/>
          </a:ln>
        </p:spPr>
      </p:sp>
      <p:sp>
        <p:nvSpPr>
          <p:cNvPr id="25" name="Text 22"/>
          <p:cNvSpPr txBox="1"/>
          <p:nvPr/>
        </p:nvSpPr>
        <p:spPr>
          <a:xfrm>
            <a:off x="6940296" y="5257800"/>
            <a:ext cx="1481328" cy="502920"/>
          </a:xfrm>
          <a:prstGeom prst="rect">
            <a:avLst/>
          </a:prstGeom>
          <a:noFill/>
          <a:ln/>
        </p:spPr>
        <p:txBody>
          <a:bodyPr wrap="square" lIns="0" tIns="0" rIns="0" bIns="0" rtlCol="0" anchor="ctr"/>
          <a:lstStyle/>
          <a:p>
            <a:pPr algn="ctr" indent="0" marL="0">
              <a:buNone/>
            </a:pPr>
            <a:r>
              <a:rPr lang="en-US" sz="3000" b="1" dirty="0">
                <a:solidFill>
                  <a:srgbClr val="38BDF8"/>
                </a:solidFill>
                <a:latin typeface="Calibri" pitchFamily="34" charset="0"/>
                <a:ea typeface="Calibri" pitchFamily="34" charset="-122"/>
                <a:cs typeface="Calibri" pitchFamily="34" charset="-120"/>
              </a:rPr>
              <a:t>9</a:t>
            </a:r>
            <a:endParaRPr lang="en-US" sz="3000" dirty="0"/>
          </a:p>
        </p:txBody>
      </p:sp>
      <p:sp>
        <p:nvSpPr>
          <p:cNvPr id="26" name="Text 23"/>
          <p:cNvSpPr txBox="1"/>
          <p:nvPr/>
        </p:nvSpPr>
        <p:spPr>
          <a:xfrm>
            <a:off x="6940296" y="5779008"/>
            <a:ext cx="1481328" cy="27432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Pages</a:t>
            </a:r>
            <a:endParaRPr lang="en-US" sz="1200" dirty="0"/>
          </a:p>
        </p:txBody>
      </p:sp>
      <p:sp>
        <p:nvSpPr>
          <p:cNvPr id="27" name="Shape 24"/>
          <p:cNvSpPr/>
          <p:nvPr/>
        </p:nvSpPr>
        <p:spPr>
          <a:xfrm>
            <a:off x="8513064" y="5166360"/>
            <a:ext cx="1481328" cy="1051560"/>
          </a:xfrm>
          <a:prstGeom prst="roundRect">
            <a:avLst>
              <a:gd name="adj" fmla="val 8696"/>
            </a:avLst>
          </a:prstGeom>
          <a:solidFill>
            <a:srgbClr val="151D4D"/>
          </a:solidFill>
          <a:ln w="12700">
            <a:solidFill>
              <a:srgbClr val="34458A"/>
            </a:solidFill>
            <a:prstDash val="solid"/>
          </a:ln>
        </p:spPr>
      </p:sp>
      <p:sp>
        <p:nvSpPr>
          <p:cNvPr id="28" name="Text 25"/>
          <p:cNvSpPr txBox="1"/>
          <p:nvPr/>
        </p:nvSpPr>
        <p:spPr>
          <a:xfrm>
            <a:off x="8513064" y="5257800"/>
            <a:ext cx="1481328" cy="502920"/>
          </a:xfrm>
          <a:prstGeom prst="rect">
            <a:avLst/>
          </a:prstGeom>
          <a:noFill/>
          <a:ln/>
        </p:spPr>
        <p:txBody>
          <a:bodyPr wrap="square" lIns="0" tIns="0" rIns="0" bIns="0" rtlCol="0" anchor="ctr"/>
          <a:lstStyle/>
          <a:p>
            <a:pPr algn="ctr" indent="0" marL="0">
              <a:buNone/>
            </a:pPr>
            <a:r>
              <a:rPr lang="en-US" sz="3000" b="1" dirty="0">
                <a:solidFill>
                  <a:srgbClr val="38BDF8"/>
                </a:solidFill>
                <a:latin typeface="Calibri" pitchFamily="34" charset="0"/>
                <a:ea typeface="Calibri" pitchFamily="34" charset="-122"/>
                <a:cs typeface="Calibri" pitchFamily="34" charset="-120"/>
              </a:rPr>
              <a:t>7</a:t>
            </a:r>
            <a:endParaRPr lang="en-US" sz="3000" dirty="0"/>
          </a:p>
        </p:txBody>
      </p:sp>
      <p:sp>
        <p:nvSpPr>
          <p:cNvPr id="29" name="Text 26"/>
          <p:cNvSpPr txBox="1"/>
          <p:nvPr/>
        </p:nvSpPr>
        <p:spPr>
          <a:xfrm>
            <a:off x="8513064" y="5779008"/>
            <a:ext cx="1481328" cy="27432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Chart types</a:t>
            </a:r>
            <a:endParaRPr lang="en-US" sz="1200" dirty="0"/>
          </a:p>
        </p:txBody>
      </p:sp>
      <p:sp>
        <p:nvSpPr>
          <p:cNvPr id="30" name="Shape 27"/>
          <p:cNvSpPr/>
          <p:nvPr/>
        </p:nvSpPr>
        <p:spPr>
          <a:xfrm>
            <a:off x="10085832" y="5166360"/>
            <a:ext cx="1481328" cy="1051560"/>
          </a:xfrm>
          <a:prstGeom prst="roundRect">
            <a:avLst>
              <a:gd name="adj" fmla="val 8696"/>
            </a:avLst>
          </a:prstGeom>
          <a:solidFill>
            <a:srgbClr val="151D4D"/>
          </a:solidFill>
          <a:ln w="12700">
            <a:solidFill>
              <a:srgbClr val="34458A"/>
            </a:solidFill>
            <a:prstDash val="solid"/>
          </a:ln>
        </p:spPr>
      </p:sp>
      <p:sp>
        <p:nvSpPr>
          <p:cNvPr id="31" name="Text 28"/>
          <p:cNvSpPr txBox="1"/>
          <p:nvPr/>
        </p:nvSpPr>
        <p:spPr>
          <a:xfrm>
            <a:off x="10085832" y="5257800"/>
            <a:ext cx="1481328" cy="502920"/>
          </a:xfrm>
          <a:prstGeom prst="rect">
            <a:avLst/>
          </a:prstGeom>
          <a:noFill/>
          <a:ln/>
        </p:spPr>
        <p:txBody>
          <a:bodyPr wrap="square" lIns="0" tIns="0" rIns="0" bIns="0" rtlCol="0" anchor="ctr"/>
          <a:lstStyle/>
          <a:p>
            <a:pPr algn="ctr" indent="0" marL="0">
              <a:buNone/>
            </a:pPr>
            <a:r>
              <a:rPr lang="en-US" sz="3000" b="1" dirty="0">
                <a:solidFill>
                  <a:srgbClr val="38BDF8"/>
                </a:solidFill>
                <a:latin typeface="Calibri" pitchFamily="34" charset="0"/>
                <a:ea typeface="Calibri" pitchFamily="34" charset="-122"/>
                <a:cs typeface="Calibri" pitchFamily="34" charset="-120"/>
              </a:rPr>
              <a:t>6/6</a:t>
            </a:r>
            <a:endParaRPr lang="en-US" sz="3000" dirty="0"/>
          </a:p>
        </p:txBody>
      </p:sp>
      <p:sp>
        <p:nvSpPr>
          <p:cNvPr id="32" name="Text 29"/>
          <p:cNvSpPr txBox="1"/>
          <p:nvPr/>
        </p:nvSpPr>
        <p:spPr>
          <a:xfrm>
            <a:off x="10085832" y="5779008"/>
            <a:ext cx="1481328" cy="27432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Tests passing</a:t>
            </a:r>
            <a:endParaRPr lang="en-US" sz="1200" dirty="0"/>
          </a:p>
        </p:txBody>
      </p:sp>
      <p:sp>
        <p:nvSpPr>
          <p:cNvPr id="33" name="Text 30"/>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34" name="Shape 31"/>
          <p:cNvSpPr/>
          <p:nvPr/>
        </p:nvSpPr>
        <p:spPr>
          <a:xfrm>
            <a:off x="9784080" y="6473952"/>
            <a:ext cx="128016" cy="128016"/>
          </a:xfrm>
          <a:prstGeom prst="ellipse">
            <a:avLst/>
          </a:prstGeom>
          <a:solidFill>
            <a:srgbClr val="38BDF8"/>
          </a:solidFill>
          <a:ln w="12700">
            <a:solidFill>
              <a:srgbClr val="38BDF8"/>
            </a:solidFill>
            <a:prstDash val="solid"/>
          </a:ln>
        </p:spPr>
      </p:sp>
      <p:sp>
        <p:nvSpPr>
          <p:cNvPr id="35" name="Shape 32"/>
          <p:cNvSpPr/>
          <p:nvPr/>
        </p:nvSpPr>
        <p:spPr>
          <a:xfrm>
            <a:off x="9966960" y="6492240"/>
            <a:ext cx="91440" cy="91440"/>
          </a:xfrm>
          <a:prstGeom prst="ellipse">
            <a:avLst/>
          </a:prstGeom>
          <a:solidFill>
            <a:srgbClr val="34458A"/>
          </a:solidFill>
          <a:ln w="12700">
            <a:solidFill>
              <a:srgbClr val="34458A"/>
            </a:solidFill>
            <a:prstDash val="solid"/>
          </a:ln>
        </p:spPr>
      </p:sp>
      <p:sp>
        <p:nvSpPr>
          <p:cNvPr id="36" name="Shape 33"/>
          <p:cNvSpPr/>
          <p:nvPr/>
        </p:nvSpPr>
        <p:spPr>
          <a:xfrm>
            <a:off x="10131552" y="6492240"/>
            <a:ext cx="91440" cy="91440"/>
          </a:xfrm>
          <a:prstGeom prst="ellipse">
            <a:avLst/>
          </a:prstGeom>
          <a:solidFill>
            <a:srgbClr val="34458A"/>
          </a:solidFill>
          <a:ln w="12700">
            <a:solidFill>
              <a:srgbClr val="34458A"/>
            </a:solidFill>
            <a:prstDash val="solid"/>
          </a:ln>
        </p:spPr>
      </p:sp>
      <p:sp>
        <p:nvSpPr>
          <p:cNvPr id="37" name="Shape 34"/>
          <p:cNvSpPr/>
          <p:nvPr/>
        </p:nvSpPr>
        <p:spPr>
          <a:xfrm>
            <a:off x="10296144" y="6492240"/>
            <a:ext cx="91440" cy="91440"/>
          </a:xfrm>
          <a:prstGeom prst="ellipse">
            <a:avLst/>
          </a:prstGeom>
          <a:solidFill>
            <a:srgbClr val="34458A"/>
          </a:solidFill>
          <a:ln w="12700">
            <a:solidFill>
              <a:srgbClr val="34458A"/>
            </a:solidFill>
            <a:prstDash val="solid"/>
          </a:ln>
        </p:spPr>
      </p:sp>
      <p:sp>
        <p:nvSpPr>
          <p:cNvPr id="38" name="Shape 35"/>
          <p:cNvSpPr/>
          <p:nvPr/>
        </p:nvSpPr>
        <p:spPr>
          <a:xfrm>
            <a:off x="10460736" y="6492240"/>
            <a:ext cx="91440" cy="91440"/>
          </a:xfrm>
          <a:prstGeom prst="ellipse">
            <a:avLst/>
          </a:prstGeom>
          <a:solidFill>
            <a:srgbClr val="34458A"/>
          </a:solidFill>
          <a:ln w="12700">
            <a:solidFill>
              <a:srgbClr val="34458A"/>
            </a:solidFill>
            <a:prstDash val="solid"/>
          </a:ln>
        </p:spPr>
      </p:sp>
      <p:sp>
        <p:nvSpPr>
          <p:cNvPr id="39" name="Shape 36"/>
          <p:cNvSpPr/>
          <p:nvPr/>
        </p:nvSpPr>
        <p:spPr>
          <a:xfrm>
            <a:off x="10625328" y="6492240"/>
            <a:ext cx="91440" cy="91440"/>
          </a:xfrm>
          <a:prstGeom prst="ellipse">
            <a:avLst/>
          </a:prstGeom>
          <a:solidFill>
            <a:srgbClr val="34458A"/>
          </a:solidFill>
          <a:ln w="12700">
            <a:solidFill>
              <a:srgbClr val="34458A"/>
            </a:solidFill>
            <a:prstDash val="solid"/>
          </a:ln>
        </p:spPr>
      </p:sp>
      <p:sp>
        <p:nvSpPr>
          <p:cNvPr id="40" name="Shape 37"/>
          <p:cNvSpPr/>
          <p:nvPr/>
        </p:nvSpPr>
        <p:spPr>
          <a:xfrm>
            <a:off x="10789920" y="6492240"/>
            <a:ext cx="91440" cy="91440"/>
          </a:xfrm>
          <a:prstGeom prst="ellipse">
            <a:avLst/>
          </a:prstGeom>
          <a:solidFill>
            <a:srgbClr val="34458A"/>
          </a:solidFill>
          <a:ln w="12700">
            <a:solidFill>
              <a:srgbClr val="34458A"/>
            </a:solidFill>
            <a:prstDash val="solid"/>
          </a:ln>
        </p:spPr>
      </p:sp>
      <p:sp>
        <p:nvSpPr>
          <p:cNvPr id="41" name="Shape 38"/>
          <p:cNvSpPr/>
          <p:nvPr/>
        </p:nvSpPr>
        <p:spPr>
          <a:xfrm>
            <a:off x="10954512" y="6492240"/>
            <a:ext cx="91440" cy="91440"/>
          </a:xfrm>
          <a:prstGeom prst="ellipse">
            <a:avLst/>
          </a:prstGeom>
          <a:solidFill>
            <a:srgbClr val="34458A"/>
          </a:solidFill>
          <a:ln w="12700">
            <a:solidFill>
              <a:srgbClr val="34458A"/>
            </a:solidFill>
            <a:prstDash val="solid"/>
          </a:ln>
        </p:spPr>
      </p:sp>
      <p:sp>
        <p:nvSpPr>
          <p:cNvPr id="42" name="Shape 39"/>
          <p:cNvSpPr/>
          <p:nvPr/>
        </p:nvSpPr>
        <p:spPr>
          <a:xfrm>
            <a:off x="11119104" y="6492240"/>
            <a:ext cx="91440" cy="91440"/>
          </a:xfrm>
          <a:prstGeom prst="ellipse">
            <a:avLst/>
          </a:prstGeom>
          <a:solidFill>
            <a:srgbClr val="34458A"/>
          </a:solidFill>
          <a:ln w="12700">
            <a:solidFill>
              <a:srgbClr val="34458A"/>
            </a:solidFill>
            <a:prstDash val="solid"/>
          </a:ln>
        </p:spPr>
      </p:sp>
      <p:sp>
        <p:nvSpPr>
          <p:cNvPr id="43" name="Shape 40"/>
          <p:cNvSpPr/>
          <p:nvPr/>
        </p:nvSpPr>
        <p:spPr>
          <a:xfrm>
            <a:off x="11283696" y="6492240"/>
            <a:ext cx="91440" cy="91440"/>
          </a:xfrm>
          <a:prstGeom prst="ellipse">
            <a:avLst/>
          </a:prstGeom>
          <a:solidFill>
            <a:srgbClr val="34458A"/>
          </a:solidFill>
          <a:ln w="12700">
            <a:solidFill>
              <a:srgbClr val="34458A"/>
            </a:solidFill>
            <a:prstDash val="solid"/>
          </a:ln>
        </p:spPr>
      </p:sp>
      <p:sp>
        <p:nvSpPr>
          <p:cNvPr id="44" name="Shape 41"/>
          <p:cNvSpPr/>
          <p:nvPr/>
        </p:nvSpPr>
        <p:spPr>
          <a:xfrm>
            <a:off x="11448288" y="6492240"/>
            <a:ext cx="91440" cy="91440"/>
          </a:xfrm>
          <a:prstGeom prst="ellipse">
            <a:avLst/>
          </a:prstGeom>
          <a:solidFill>
            <a:srgbClr val="34458A"/>
          </a:solidFill>
          <a:ln w="12700">
            <a:solidFill>
              <a:srgbClr val="34458A"/>
            </a:solidFill>
            <a:prstDash val="solid"/>
          </a:ln>
        </p:spPr>
      </p:sp>
      <p:sp>
        <p:nvSpPr>
          <p:cNvPr id="45" name="Shape 42"/>
          <p:cNvSpPr/>
          <p:nvPr/>
        </p:nvSpPr>
        <p:spPr>
          <a:xfrm>
            <a:off x="11612880" y="6492240"/>
            <a:ext cx="91440" cy="91440"/>
          </a:xfrm>
          <a:prstGeom prst="ellipse">
            <a:avLst/>
          </a:prstGeom>
          <a:solidFill>
            <a:srgbClr val="34458A"/>
          </a:solidFill>
          <a:ln w="12700">
            <a:solidFill>
              <a:srgbClr val="34458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Problem: Financial Fragmentation</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48672" y="6473952"/>
            <a:ext cx="128016" cy="128016"/>
          </a:xfrm>
          <a:prstGeom prst="ellipse">
            <a:avLst/>
          </a:prstGeom>
          <a:solidFill>
            <a:srgbClr val="38BDF8"/>
          </a:solidFill>
          <a:ln w="12700">
            <a:solidFill>
              <a:srgbClr val="38BDF8"/>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80160"/>
            <a:ext cx="3575304" cy="3291840"/>
          </a:xfrm>
          <a:prstGeom prst="roundRect">
            <a:avLst>
              <a:gd name="adj" fmla="val 2778"/>
            </a:avLst>
          </a:prstGeom>
          <a:solidFill>
            <a:srgbClr val="151D4D"/>
          </a:solidFill>
          <a:ln w="12700">
            <a:solidFill>
              <a:srgbClr val="34458A"/>
            </a:solidFill>
            <a:prstDash val="solid"/>
          </a:ln>
        </p:spPr>
      </p:sp>
      <p:sp>
        <p:nvSpPr>
          <p:cNvPr id="19" name="Shape 17"/>
          <p:cNvSpPr/>
          <p:nvPr/>
        </p:nvSpPr>
        <p:spPr>
          <a:xfrm>
            <a:off x="731520" y="1554480"/>
            <a:ext cx="685800" cy="685800"/>
          </a:xfrm>
          <a:prstGeom prst="ellipse">
            <a:avLst/>
          </a:prstGeom>
          <a:solidFill>
            <a:srgbClr val="EF4444"/>
          </a:solidFill>
          <a:ln w="12700">
            <a:solidFill>
              <a:srgbClr val="EF4444"/>
            </a:solidFill>
            <a:prstDash val="solid"/>
          </a:ln>
        </p:spPr>
      </p:sp>
      <p:pic>
        <p:nvPicPr>
          <p:cNvPr id="20" name="Image 0" descr="preencoded.png">    </p:cNvPr>
          <p:cNvPicPr>
            <a:picLocks noChangeAspect="1"/>
          </p:cNvPicPr>
          <p:nvPr/>
        </p:nvPicPr>
        <p:blipFill>
          <a:blip r:embed="rId1"/>
          <a:stretch>
            <a:fillRect/>
          </a:stretch>
        </p:blipFill>
        <p:spPr>
          <a:xfrm>
            <a:off x="902970" y="1725930"/>
            <a:ext cx="342900" cy="342900"/>
          </a:xfrm>
          <a:prstGeom prst="rect">
            <a:avLst/>
          </a:prstGeom>
        </p:spPr>
      </p:pic>
      <p:sp>
        <p:nvSpPr>
          <p:cNvPr id="21" name="Text 18"/>
          <p:cNvSpPr txBox="1"/>
          <p:nvPr/>
        </p:nvSpPr>
        <p:spPr>
          <a:xfrm>
            <a:off x="731520" y="2423160"/>
            <a:ext cx="3026664"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Cash Flow Blindness</a:t>
            </a:r>
            <a:endParaRPr lang="en-US" sz="1800" dirty="0"/>
          </a:p>
        </p:txBody>
      </p:sp>
      <p:sp>
        <p:nvSpPr>
          <p:cNvPr id="22" name="Text 19"/>
          <p:cNvSpPr txBox="1"/>
          <p:nvPr/>
        </p:nvSpPr>
        <p:spPr>
          <a:xfrm>
            <a:off x="731520" y="2971800"/>
            <a:ext cx="3026664"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Tools report spending after it happens</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No view of next month's outflow</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Balances surprise users at month end</a:t>
            </a:r>
            <a:endParaRPr lang="en-US" sz="1400" dirty="0"/>
          </a:p>
        </p:txBody>
      </p:sp>
      <p:sp>
        <p:nvSpPr>
          <p:cNvPr id="23" name="Shape 20"/>
          <p:cNvSpPr/>
          <p:nvPr/>
        </p:nvSpPr>
        <p:spPr>
          <a:xfrm>
            <a:off x="4306824" y="1280160"/>
            <a:ext cx="3575304" cy="3291840"/>
          </a:xfrm>
          <a:prstGeom prst="roundRect">
            <a:avLst>
              <a:gd name="adj" fmla="val 2778"/>
            </a:avLst>
          </a:prstGeom>
          <a:solidFill>
            <a:srgbClr val="151D4D"/>
          </a:solidFill>
          <a:ln w="12700">
            <a:solidFill>
              <a:srgbClr val="34458A"/>
            </a:solidFill>
            <a:prstDash val="solid"/>
          </a:ln>
        </p:spPr>
      </p:sp>
      <p:sp>
        <p:nvSpPr>
          <p:cNvPr id="24" name="Shape 21"/>
          <p:cNvSpPr/>
          <p:nvPr/>
        </p:nvSpPr>
        <p:spPr>
          <a:xfrm>
            <a:off x="4581144" y="1554480"/>
            <a:ext cx="685800" cy="685800"/>
          </a:xfrm>
          <a:prstGeom prst="ellipse">
            <a:avLst/>
          </a:prstGeom>
          <a:solidFill>
            <a:srgbClr val="F59E0B"/>
          </a:solidFill>
          <a:ln w="12700">
            <a:solidFill>
              <a:srgbClr val="F59E0B"/>
            </a:solidFill>
            <a:prstDash val="solid"/>
          </a:ln>
        </p:spPr>
      </p:sp>
      <p:pic>
        <p:nvPicPr>
          <p:cNvPr id="25" name="Image 1" descr="preencoded.png">    </p:cNvPr>
          <p:cNvPicPr>
            <a:picLocks noChangeAspect="1"/>
          </p:cNvPicPr>
          <p:nvPr/>
        </p:nvPicPr>
        <p:blipFill>
          <a:blip r:embed="rId2"/>
          <a:stretch>
            <a:fillRect/>
          </a:stretch>
        </p:blipFill>
        <p:spPr>
          <a:xfrm>
            <a:off x="4752594" y="1725930"/>
            <a:ext cx="342900" cy="342900"/>
          </a:xfrm>
          <a:prstGeom prst="rect">
            <a:avLst/>
          </a:prstGeom>
        </p:spPr>
      </p:pic>
      <p:sp>
        <p:nvSpPr>
          <p:cNvPr id="26" name="Text 22"/>
          <p:cNvSpPr txBox="1"/>
          <p:nvPr/>
        </p:nvSpPr>
        <p:spPr>
          <a:xfrm>
            <a:off x="4581144" y="2423160"/>
            <a:ext cx="3026664"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Subscription Creep</a:t>
            </a:r>
            <a:endParaRPr lang="en-US" sz="1800" dirty="0"/>
          </a:p>
        </p:txBody>
      </p:sp>
      <p:sp>
        <p:nvSpPr>
          <p:cNvPr id="27" name="Text 23"/>
          <p:cNvSpPr txBox="1"/>
          <p:nvPr/>
        </p:nvSpPr>
        <p:spPr>
          <a:xfrm>
            <a:off x="4581144" y="2971800"/>
            <a:ext cx="3026664"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Recurring charges pile up unnoticed</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Discretionary surges go undetected</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Savings rate erodes silently</a:t>
            </a:r>
            <a:endParaRPr lang="en-US" sz="1400" dirty="0"/>
          </a:p>
        </p:txBody>
      </p:sp>
      <p:sp>
        <p:nvSpPr>
          <p:cNvPr id="28" name="Shape 24"/>
          <p:cNvSpPr/>
          <p:nvPr/>
        </p:nvSpPr>
        <p:spPr>
          <a:xfrm>
            <a:off x="8156448" y="1280160"/>
            <a:ext cx="3575304" cy="3291840"/>
          </a:xfrm>
          <a:prstGeom prst="roundRect">
            <a:avLst>
              <a:gd name="adj" fmla="val 2778"/>
            </a:avLst>
          </a:prstGeom>
          <a:solidFill>
            <a:srgbClr val="151D4D"/>
          </a:solidFill>
          <a:ln w="12700">
            <a:solidFill>
              <a:srgbClr val="34458A"/>
            </a:solidFill>
            <a:prstDash val="solid"/>
          </a:ln>
        </p:spPr>
      </p:sp>
      <p:sp>
        <p:nvSpPr>
          <p:cNvPr id="29" name="Shape 25"/>
          <p:cNvSpPr/>
          <p:nvPr/>
        </p:nvSpPr>
        <p:spPr>
          <a:xfrm>
            <a:off x="8430768" y="1554480"/>
            <a:ext cx="685800" cy="685800"/>
          </a:xfrm>
          <a:prstGeom prst="ellipse">
            <a:avLst/>
          </a:prstGeom>
          <a:solidFill>
            <a:srgbClr val="C52DDB"/>
          </a:solidFill>
          <a:ln w="12700">
            <a:solidFill>
              <a:srgbClr val="C52DDB"/>
            </a:solidFill>
            <a:prstDash val="solid"/>
          </a:ln>
        </p:spPr>
      </p:sp>
      <p:pic>
        <p:nvPicPr>
          <p:cNvPr id="30" name="Image 2" descr="preencoded.png">    </p:cNvPr>
          <p:cNvPicPr>
            <a:picLocks noChangeAspect="1"/>
          </p:cNvPicPr>
          <p:nvPr/>
        </p:nvPicPr>
        <p:blipFill>
          <a:blip r:embed="rId3"/>
          <a:stretch>
            <a:fillRect/>
          </a:stretch>
        </p:blipFill>
        <p:spPr>
          <a:xfrm>
            <a:off x="8602218" y="1725930"/>
            <a:ext cx="342900" cy="342900"/>
          </a:xfrm>
          <a:prstGeom prst="rect">
            <a:avLst/>
          </a:prstGeom>
        </p:spPr>
      </p:pic>
      <p:sp>
        <p:nvSpPr>
          <p:cNvPr id="31" name="Text 26"/>
          <p:cNvSpPr txBox="1"/>
          <p:nvPr/>
        </p:nvSpPr>
        <p:spPr>
          <a:xfrm>
            <a:off x="8430768" y="2423160"/>
            <a:ext cx="3026664"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Tool Fragmentation</a:t>
            </a:r>
            <a:endParaRPr lang="en-US" sz="1800" dirty="0"/>
          </a:p>
        </p:txBody>
      </p:sp>
      <p:sp>
        <p:nvSpPr>
          <p:cNvPr id="32" name="Text 27"/>
          <p:cNvSpPr txBox="1"/>
          <p:nvPr/>
        </p:nvSpPr>
        <p:spPr>
          <a:xfrm>
            <a:off x="8430768" y="2971800"/>
            <a:ext cx="3026664"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3+ disconnected apps and sheets</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High manual upkeep, high drop-off</a:t>
            </a:r>
            <a:endParaRPr lang="en-US" sz="1400" dirty="0"/>
          </a:p>
          <a:p>
            <a:pPr marL="342900" indent="-342900">
              <a:spcAft>
                <a:spcPts val="500"/>
              </a:spcAft>
              <a:buSzPct val="100000"/>
              <a:buChar char="•"/>
            </a:pPr>
            <a:r>
              <a:rPr lang="en-US" sz="1400" dirty="0">
                <a:solidFill>
                  <a:srgbClr val="E2E8F0"/>
                </a:solidFill>
                <a:latin typeface="Calibri" pitchFamily="34" charset="0"/>
                <a:ea typeface="Calibri" pitchFamily="34" charset="-122"/>
                <a:cs typeface="Calibri" pitchFamily="34" charset="-120"/>
              </a:rPr>
              <a:t>No unified intelligence layer</a:t>
            </a:r>
            <a:endParaRPr lang="en-US" sz="1400" dirty="0"/>
          </a:p>
        </p:txBody>
      </p:sp>
      <p:sp>
        <p:nvSpPr>
          <p:cNvPr id="33" name="Shape 28"/>
          <p:cNvSpPr/>
          <p:nvPr/>
        </p:nvSpPr>
        <p:spPr>
          <a:xfrm>
            <a:off x="457200" y="4846320"/>
            <a:ext cx="11274552" cy="1371600"/>
          </a:xfrm>
          <a:prstGeom prst="roundRect">
            <a:avLst>
              <a:gd name="adj" fmla="val 6667"/>
            </a:avLst>
          </a:prstGeom>
          <a:solidFill>
            <a:srgbClr val="151D4D"/>
          </a:solidFill>
          <a:ln w="12700">
            <a:solidFill>
              <a:srgbClr val="34458A"/>
            </a:solidFill>
            <a:prstDash val="solid"/>
          </a:ln>
        </p:spPr>
      </p:sp>
      <p:sp>
        <p:nvSpPr>
          <p:cNvPr id="34" name="Text 29"/>
          <p:cNvSpPr txBox="1"/>
          <p:nvPr/>
        </p:nvSpPr>
        <p:spPr>
          <a:xfrm>
            <a:off x="731520" y="5029200"/>
            <a:ext cx="1097280" cy="274320"/>
          </a:xfrm>
          <a:prstGeom prst="rect">
            <a:avLst/>
          </a:prstGeom>
          <a:noFill/>
          <a:ln/>
        </p:spPr>
        <p:txBody>
          <a:bodyPr wrap="square" lIns="0" tIns="0" rIns="0" bIns="0" rtlCol="0" anchor="t"/>
          <a:lstStyle/>
          <a:p>
            <a:pPr indent="0" marL="0">
              <a:buNone/>
            </a:pPr>
            <a:r>
              <a:rPr lang="en-US" sz="1100" b="1" dirty="0">
                <a:solidFill>
                  <a:srgbClr val="EF4444"/>
                </a:solidFill>
                <a:latin typeface="Calibri" pitchFamily="34" charset="0"/>
                <a:ea typeface="Calibri" pitchFamily="34" charset="-122"/>
                <a:cs typeface="Calibri" pitchFamily="34" charset="-120"/>
              </a:rPr>
              <a:t>TODAY</a:t>
            </a:r>
            <a:endParaRPr lang="en-US" sz="1100" dirty="0"/>
          </a:p>
        </p:txBody>
      </p:sp>
      <p:sp>
        <p:nvSpPr>
          <p:cNvPr id="35" name="Shape 30"/>
          <p:cNvSpPr/>
          <p:nvPr/>
        </p:nvSpPr>
        <p:spPr>
          <a:xfrm>
            <a:off x="731520" y="5440680"/>
            <a:ext cx="1645920" cy="457200"/>
          </a:xfrm>
          <a:prstGeom prst="roundRect">
            <a:avLst>
              <a:gd name="adj" fmla="val 16000"/>
            </a:avLst>
          </a:prstGeom>
          <a:solidFill>
            <a:srgbClr val="3A1530"/>
          </a:solidFill>
          <a:ln w="12700">
            <a:solidFill>
              <a:srgbClr val="EF4444"/>
            </a:solidFill>
            <a:prstDash val="solid"/>
          </a:ln>
        </p:spPr>
      </p:sp>
      <p:sp>
        <p:nvSpPr>
          <p:cNvPr id="36" name="Text 31"/>
          <p:cNvSpPr txBox="1"/>
          <p:nvPr/>
        </p:nvSpPr>
        <p:spPr>
          <a:xfrm>
            <a:off x="777240" y="5440680"/>
            <a:ext cx="155448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Banking portal</a:t>
            </a:r>
            <a:endParaRPr lang="en-US" sz="1200" dirty="0"/>
          </a:p>
        </p:txBody>
      </p:sp>
      <p:sp>
        <p:nvSpPr>
          <p:cNvPr id="37" name="Shape 32"/>
          <p:cNvSpPr/>
          <p:nvPr/>
        </p:nvSpPr>
        <p:spPr>
          <a:xfrm>
            <a:off x="2514600" y="5440680"/>
            <a:ext cx="1645920" cy="457200"/>
          </a:xfrm>
          <a:prstGeom prst="roundRect">
            <a:avLst>
              <a:gd name="adj" fmla="val 16000"/>
            </a:avLst>
          </a:prstGeom>
          <a:solidFill>
            <a:srgbClr val="3A1530"/>
          </a:solidFill>
          <a:ln w="12700">
            <a:solidFill>
              <a:srgbClr val="EF4444"/>
            </a:solidFill>
            <a:prstDash val="solid"/>
          </a:ln>
        </p:spPr>
      </p:sp>
      <p:sp>
        <p:nvSpPr>
          <p:cNvPr id="38" name="Text 33"/>
          <p:cNvSpPr txBox="1"/>
          <p:nvPr/>
        </p:nvSpPr>
        <p:spPr>
          <a:xfrm>
            <a:off x="2560320" y="5440680"/>
            <a:ext cx="155448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Static spreadsheet</a:t>
            </a:r>
            <a:endParaRPr lang="en-US" sz="1200" dirty="0"/>
          </a:p>
        </p:txBody>
      </p:sp>
      <p:sp>
        <p:nvSpPr>
          <p:cNvPr id="39" name="Shape 34"/>
          <p:cNvSpPr/>
          <p:nvPr/>
        </p:nvSpPr>
        <p:spPr>
          <a:xfrm>
            <a:off x="4297680" y="5440680"/>
            <a:ext cx="1645920" cy="457200"/>
          </a:xfrm>
          <a:prstGeom prst="roundRect">
            <a:avLst>
              <a:gd name="adj" fmla="val 16000"/>
            </a:avLst>
          </a:prstGeom>
          <a:solidFill>
            <a:srgbClr val="3A1530"/>
          </a:solidFill>
          <a:ln w="12700">
            <a:solidFill>
              <a:srgbClr val="EF4444"/>
            </a:solidFill>
            <a:prstDash val="solid"/>
          </a:ln>
        </p:spPr>
      </p:sp>
      <p:sp>
        <p:nvSpPr>
          <p:cNvPr id="40" name="Text 35"/>
          <p:cNvSpPr txBox="1"/>
          <p:nvPr/>
        </p:nvSpPr>
        <p:spPr>
          <a:xfrm>
            <a:off x="4343400" y="5440680"/>
            <a:ext cx="155448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Calculator app</a:t>
            </a:r>
            <a:endParaRPr lang="en-US" sz="1200" dirty="0"/>
          </a:p>
        </p:txBody>
      </p:sp>
      <p:sp>
        <p:nvSpPr>
          <p:cNvPr id="41" name="Shape 36"/>
          <p:cNvSpPr/>
          <p:nvPr/>
        </p:nvSpPr>
        <p:spPr>
          <a:xfrm>
            <a:off x="6172200" y="5394960"/>
            <a:ext cx="822960" cy="548640"/>
          </a:xfrm>
          <a:prstGeom prst="rightArrow">
            <a:avLst/>
          </a:prstGeom>
          <a:solidFill>
            <a:srgbClr val="38BDF8"/>
          </a:solidFill>
          <a:ln w="12700">
            <a:solidFill>
              <a:srgbClr val="38BDF8"/>
            </a:solidFill>
            <a:prstDash val="solid"/>
          </a:ln>
        </p:spPr>
      </p:sp>
      <p:sp>
        <p:nvSpPr>
          <p:cNvPr id="42" name="Text 37"/>
          <p:cNvSpPr txBox="1"/>
          <p:nvPr/>
        </p:nvSpPr>
        <p:spPr>
          <a:xfrm>
            <a:off x="7315200" y="5029200"/>
            <a:ext cx="3200400" cy="274320"/>
          </a:xfrm>
          <a:prstGeom prst="rect">
            <a:avLst/>
          </a:prstGeom>
          <a:noFill/>
          <a:ln/>
        </p:spPr>
        <p:txBody>
          <a:bodyPr wrap="square" lIns="0" tIns="0" rIns="0" bIns="0" rtlCol="0" anchor="t"/>
          <a:lstStyle/>
          <a:p>
            <a:pPr indent="0" marL="0">
              <a:buNone/>
            </a:pPr>
            <a:r>
              <a:rPr lang="en-US" sz="1100" b="1" dirty="0">
                <a:solidFill>
                  <a:srgbClr val="10B981"/>
                </a:solidFill>
                <a:latin typeface="Calibri" pitchFamily="34" charset="0"/>
                <a:ea typeface="Calibri" pitchFamily="34" charset="-122"/>
                <a:cs typeface="Calibri" pitchFamily="34" charset="-120"/>
              </a:rPr>
              <a:t>WITH THIS PLATFORM</a:t>
            </a:r>
            <a:endParaRPr lang="en-US" sz="1100" dirty="0"/>
          </a:p>
        </p:txBody>
      </p:sp>
      <p:sp>
        <p:nvSpPr>
          <p:cNvPr id="43" name="Shape 38"/>
          <p:cNvSpPr/>
          <p:nvPr/>
        </p:nvSpPr>
        <p:spPr>
          <a:xfrm>
            <a:off x="7315200" y="5440680"/>
            <a:ext cx="4160520" cy="457200"/>
          </a:xfrm>
          <a:prstGeom prst="roundRect">
            <a:avLst>
              <a:gd name="adj" fmla="val 16000"/>
            </a:avLst>
          </a:prstGeom>
          <a:solidFill>
            <a:srgbClr val="0B3B33"/>
          </a:solidFill>
          <a:ln w="12700">
            <a:solidFill>
              <a:srgbClr val="10B981"/>
            </a:solidFill>
            <a:prstDash val="solid"/>
          </a:ln>
        </p:spPr>
      </p:sp>
      <p:sp>
        <p:nvSpPr>
          <p:cNvPr id="44" name="Text 39"/>
          <p:cNvSpPr txBox="1"/>
          <p:nvPr/>
        </p:nvSpPr>
        <p:spPr>
          <a:xfrm>
            <a:off x="7360920" y="544068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One cockpit: KPIs, forecast, budgets, export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Solution: An Intelligence-First Cockpit</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13264" y="6473952"/>
            <a:ext cx="128016" cy="128016"/>
          </a:xfrm>
          <a:prstGeom prst="ellipse">
            <a:avLst/>
          </a:prstGeom>
          <a:solidFill>
            <a:srgbClr val="38BDF8"/>
          </a:solidFill>
          <a:ln w="12700">
            <a:solidFill>
              <a:srgbClr val="38BDF8"/>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80160"/>
            <a:ext cx="5029200" cy="1097280"/>
          </a:xfrm>
          <a:prstGeom prst="roundRect">
            <a:avLst>
              <a:gd name="adj" fmla="val 8333"/>
            </a:avLst>
          </a:prstGeom>
          <a:solidFill>
            <a:srgbClr val="151D4D"/>
          </a:solidFill>
          <a:ln w="12700">
            <a:solidFill>
              <a:srgbClr val="34458A"/>
            </a:solidFill>
            <a:prstDash val="solid"/>
          </a:ln>
        </p:spPr>
      </p:sp>
      <p:sp>
        <p:nvSpPr>
          <p:cNvPr id="19" name="Shape 17"/>
          <p:cNvSpPr/>
          <p:nvPr/>
        </p:nvSpPr>
        <p:spPr>
          <a:xfrm>
            <a:off x="685800" y="1508760"/>
            <a:ext cx="640080" cy="640080"/>
          </a:xfrm>
          <a:prstGeom prst="ellipse">
            <a:avLst/>
          </a:prstGeom>
          <a:solidFill>
            <a:srgbClr val="4169E1"/>
          </a:solidFill>
          <a:ln w="12700">
            <a:solidFill>
              <a:srgbClr val="4169E1"/>
            </a:solidFill>
            <a:prstDash val="solid"/>
          </a:ln>
        </p:spPr>
      </p:sp>
      <p:pic>
        <p:nvPicPr>
          <p:cNvPr id="20" name="Image 0" descr="preencoded.png">    </p:cNvPr>
          <p:cNvPicPr>
            <a:picLocks noChangeAspect="1"/>
          </p:cNvPicPr>
          <p:nvPr/>
        </p:nvPicPr>
        <p:blipFill>
          <a:blip r:embed="rId1"/>
          <a:stretch>
            <a:fillRect/>
          </a:stretch>
        </p:blipFill>
        <p:spPr>
          <a:xfrm>
            <a:off x="845820" y="1668780"/>
            <a:ext cx="320040" cy="320040"/>
          </a:xfrm>
          <a:prstGeom prst="rect">
            <a:avLst/>
          </a:prstGeom>
        </p:spPr>
      </p:pic>
      <p:sp>
        <p:nvSpPr>
          <p:cNvPr id="21" name="Text 18"/>
          <p:cNvSpPr txBox="1"/>
          <p:nvPr/>
        </p:nvSpPr>
        <p:spPr>
          <a:xfrm>
            <a:off x="1554480" y="1508760"/>
            <a:ext cx="37947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Real-Time Executive KPIs</a:t>
            </a:r>
            <a:endParaRPr lang="en-US" sz="1600" dirty="0"/>
          </a:p>
        </p:txBody>
      </p:sp>
      <p:sp>
        <p:nvSpPr>
          <p:cNvPr id="22" name="Text 19"/>
          <p:cNvSpPr txBox="1"/>
          <p:nvPr/>
        </p:nvSpPr>
        <p:spPr>
          <a:xfrm>
            <a:off x="1554480" y="1874520"/>
            <a:ext cx="379476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5 KPI cards plus a 0-100 Health Index</a:t>
            </a:r>
            <a:endParaRPr lang="en-US" sz="1300" dirty="0"/>
          </a:p>
        </p:txBody>
      </p:sp>
      <p:sp>
        <p:nvSpPr>
          <p:cNvPr id="23" name="Shape 20"/>
          <p:cNvSpPr/>
          <p:nvPr/>
        </p:nvSpPr>
        <p:spPr>
          <a:xfrm>
            <a:off x="457200" y="2514600"/>
            <a:ext cx="5029200" cy="1097280"/>
          </a:xfrm>
          <a:prstGeom prst="roundRect">
            <a:avLst>
              <a:gd name="adj" fmla="val 8333"/>
            </a:avLst>
          </a:prstGeom>
          <a:solidFill>
            <a:srgbClr val="151D4D"/>
          </a:solidFill>
          <a:ln w="12700">
            <a:solidFill>
              <a:srgbClr val="34458A"/>
            </a:solidFill>
            <a:prstDash val="solid"/>
          </a:ln>
        </p:spPr>
      </p:sp>
      <p:sp>
        <p:nvSpPr>
          <p:cNvPr id="24" name="Shape 21"/>
          <p:cNvSpPr/>
          <p:nvPr/>
        </p:nvSpPr>
        <p:spPr>
          <a:xfrm>
            <a:off x="685800" y="2743200"/>
            <a:ext cx="640080" cy="640080"/>
          </a:xfrm>
          <a:prstGeom prst="ellipse">
            <a:avLst/>
          </a:prstGeom>
          <a:solidFill>
            <a:srgbClr val="38BDF8"/>
          </a:solidFill>
          <a:ln w="12700">
            <a:solidFill>
              <a:srgbClr val="38BDF8"/>
            </a:solidFill>
            <a:prstDash val="solid"/>
          </a:ln>
        </p:spPr>
      </p:sp>
      <p:pic>
        <p:nvPicPr>
          <p:cNvPr id="25" name="Image 1" descr="preencoded.png">    </p:cNvPr>
          <p:cNvPicPr>
            <a:picLocks noChangeAspect="1"/>
          </p:cNvPicPr>
          <p:nvPr/>
        </p:nvPicPr>
        <p:blipFill>
          <a:blip r:embed="rId2"/>
          <a:stretch>
            <a:fillRect/>
          </a:stretch>
        </p:blipFill>
        <p:spPr>
          <a:xfrm>
            <a:off x="845820" y="2903220"/>
            <a:ext cx="320040" cy="320040"/>
          </a:xfrm>
          <a:prstGeom prst="rect">
            <a:avLst/>
          </a:prstGeom>
        </p:spPr>
      </p:pic>
      <p:sp>
        <p:nvSpPr>
          <p:cNvPr id="26" name="Text 22"/>
          <p:cNvSpPr txBox="1"/>
          <p:nvPr/>
        </p:nvSpPr>
        <p:spPr>
          <a:xfrm>
            <a:off x="1554480" y="2743200"/>
            <a:ext cx="37947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Predictive ML Forecasting</a:t>
            </a:r>
            <a:endParaRPr lang="en-US" sz="1600" dirty="0"/>
          </a:p>
        </p:txBody>
      </p:sp>
      <p:sp>
        <p:nvSpPr>
          <p:cNvPr id="27" name="Text 23"/>
          <p:cNvSpPr txBox="1"/>
          <p:nvPr/>
        </p:nvSpPr>
        <p:spPr>
          <a:xfrm>
            <a:off x="1554480" y="3108960"/>
            <a:ext cx="379476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Next-month spend with a 95% range</a:t>
            </a:r>
            <a:endParaRPr lang="en-US" sz="1300" dirty="0"/>
          </a:p>
        </p:txBody>
      </p:sp>
      <p:sp>
        <p:nvSpPr>
          <p:cNvPr id="28" name="Shape 24"/>
          <p:cNvSpPr/>
          <p:nvPr/>
        </p:nvSpPr>
        <p:spPr>
          <a:xfrm>
            <a:off x="457200" y="3749040"/>
            <a:ext cx="5029200" cy="1097280"/>
          </a:xfrm>
          <a:prstGeom prst="roundRect">
            <a:avLst>
              <a:gd name="adj" fmla="val 8333"/>
            </a:avLst>
          </a:prstGeom>
          <a:solidFill>
            <a:srgbClr val="151D4D"/>
          </a:solidFill>
          <a:ln w="12700">
            <a:solidFill>
              <a:srgbClr val="34458A"/>
            </a:solidFill>
            <a:prstDash val="solid"/>
          </a:ln>
        </p:spPr>
      </p:sp>
      <p:sp>
        <p:nvSpPr>
          <p:cNvPr id="29" name="Shape 25"/>
          <p:cNvSpPr/>
          <p:nvPr/>
        </p:nvSpPr>
        <p:spPr>
          <a:xfrm>
            <a:off x="685800" y="3977640"/>
            <a:ext cx="640080" cy="640080"/>
          </a:xfrm>
          <a:prstGeom prst="ellipse">
            <a:avLst/>
          </a:prstGeom>
          <a:solidFill>
            <a:srgbClr val="10B981"/>
          </a:solidFill>
          <a:ln w="12700">
            <a:solidFill>
              <a:srgbClr val="10B981"/>
            </a:solidFill>
            <a:prstDash val="solid"/>
          </a:ln>
        </p:spPr>
      </p:sp>
      <p:pic>
        <p:nvPicPr>
          <p:cNvPr id="30" name="Image 2" descr="preencoded.png">    </p:cNvPr>
          <p:cNvPicPr>
            <a:picLocks noChangeAspect="1"/>
          </p:cNvPicPr>
          <p:nvPr/>
        </p:nvPicPr>
        <p:blipFill>
          <a:blip r:embed="rId3"/>
          <a:stretch>
            <a:fillRect/>
          </a:stretch>
        </p:blipFill>
        <p:spPr>
          <a:xfrm>
            <a:off x="845820" y="4137660"/>
            <a:ext cx="320040" cy="320040"/>
          </a:xfrm>
          <a:prstGeom prst="rect">
            <a:avLst/>
          </a:prstGeom>
        </p:spPr>
      </p:pic>
      <p:sp>
        <p:nvSpPr>
          <p:cNvPr id="31" name="Text 26"/>
          <p:cNvSpPr txBox="1"/>
          <p:nvPr/>
        </p:nvSpPr>
        <p:spPr>
          <a:xfrm>
            <a:off x="1554480" y="3977640"/>
            <a:ext cx="37947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Active Budget Guardrails</a:t>
            </a:r>
            <a:endParaRPr lang="en-US" sz="1600" dirty="0"/>
          </a:p>
        </p:txBody>
      </p:sp>
      <p:sp>
        <p:nvSpPr>
          <p:cNvPr id="32" name="Text 27"/>
          <p:cNvSpPr txBox="1"/>
          <p:nvPr/>
        </p:nvSpPr>
        <p:spPr>
          <a:xfrm>
            <a:off x="1554480" y="4343400"/>
            <a:ext cx="379476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Green, amber and red category caps</a:t>
            </a:r>
            <a:endParaRPr lang="en-US" sz="1300" dirty="0"/>
          </a:p>
        </p:txBody>
      </p:sp>
      <p:sp>
        <p:nvSpPr>
          <p:cNvPr id="33" name="Shape 28"/>
          <p:cNvSpPr/>
          <p:nvPr/>
        </p:nvSpPr>
        <p:spPr>
          <a:xfrm>
            <a:off x="457200" y="4983480"/>
            <a:ext cx="5029200" cy="1097280"/>
          </a:xfrm>
          <a:prstGeom prst="roundRect">
            <a:avLst>
              <a:gd name="adj" fmla="val 8333"/>
            </a:avLst>
          </a:prstGeom>
          <a:solidFill>
            <a:srgbClr val="151D4D"/>
          </a:solidFill>
          <a:ln w="12700">
            <a:solidFill>
              <a:srgbClr val="34458A"/>
            </a:solidFill>
            <a:prstDash val="solid"/>
          </a:ln>
        </p:spPr>
      </p:sp>
      <p:sp>
        <p:nvSpPr>
          <p:cNvPr id="34" name="Shape 29"/>
          <p:cNvSpPr/>
          <p:nvPr/>
        </p:nvSpPr>
        <p:spPr>
          <a:xfrm>
            <a:off x="685800" y="5212080"/>
            <a:ext cx="640080" cy="640080"/>
          </a:xfrm>
          <a:prstGeom prst="ellipse">
            <a:avLst/>
          </a:prstGeom>
          <a:solidFill>
            <a:srgbClr val="C52DDB"/>
          </a:solidFill>
          <a:ln w="12700">
            <a:solidFill>
              <a:srgbClr val="C52DDB"/>
            </a:solidFill>
            <a:prstDash val="solid"/>
          </a:ln>
        </p:spPr>
      </p:sp>
      <p:pic>
        <p:nvPicPr>
          <p:cNvPr id="35" name="Image 3" descr="preencoded.png">    </p:cNvPr>
          <p:cNvPicPr>
            <a:picLocks noChangeAspect="1"/>
          </p:cNvPicPr>
          <p:nvPr/>
        </p:nvPicPr>
        <p:blipFill>
          <a:blip r:embed="rId4"/>
          <a:stretch>
            <a:fillRect/>
          </a:stretch>
        </p:blipFill>
        <p:spPr>
          <a:xfrm>
            <a:off x="845820" y="5372100"/>
            <a:ext cx="320040" cy="320040"/>
          </a:xfrm>
          <a:prstGeom prst="rect">
            <a:avLst/>
          </a:prstGeom>
        </p:spPr>
      </p:pic>
      <p:sp>
        <p:nvSpPr>
          <p:cNvPr id="36" name="Text 30"/>
          <p:cNvSpPr txBox="1"/>
          <p:nvPr/>
        </p:nvSpPr>
        <p:spPr>
          <a:xfrm>
            <a:off x="1554480" y="5212080"/>
            <a:ext cx="37947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Enterprise Data Portability</a:t>
            </a:r>
            <a:endParaRPr lang="en-US" sz="1600" dirty="0"/>
          </a:p>
        </p:txBody>
      </p:sp>
      <p:sp>
        <p:nvSpPr>
          <p:cNvPr id="37" name="Text 31"/>
          <p:cNvSpPr txBox="1"/>
          <p:nvPr/>
        </p:nvSpPr>
        <p:spPr>
          <a:xfrm>
            <a:off x="1554480" y="5577840"/>
            <a:ext cx="379476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CSV/XLSX import, PDF and Excel export</a:t>
            </a:r>
            <a:endParaRPr lang="en-US" sz="1300" dirty="0"/>
          </a:p>
        </p:txBody>
      </p:sp>
      <p:sp>
        <p:nvSpPr>
          <p:cNvPr id="38" name="Shape 32"/>
          <p:cNvSpPr/>
          <p:nvPr/>
        </p:nvSpPr>
        <p:spPr>
          <a:xfrm>
            <a:off x="5779008" y="1280160"/>
            <a:ext cx="5952744" cy="3855974"/>
          </a:xfrm>
          <a:prstGeom prst="roundRect">
            <a:avLst>
              <a:gd name="adj" fmla="val 2371"/>
            </a:avLst>
          </a:prstGeom>
          <a:solidFill>
            <a:srgbClr val="151D4D"/>
          </a:solidFill>
          <a:ln w="15875">
            <a:solidFill>
              <a:srgbClr val="4169E1"/>
            </a:solidFill>
            <a:prstDash val="solid"/>
          </a:ln>
        </p:spPr>
      </p:sp>
      <p:pic>
        <p:nvPicPr>
          <p:cNvPr id="39" name="Image 4" descr="/home/claude/deck/02_dashboard_overview.jpg">    </p:cNvPr>
          <p:cNvPicPr>
            <a:picLocks noChangeAspect="1"/>
          </p:cNvPicPr>
          <p:nvPr/>
        </p:nvPicPr>
        <p:blipFill>
          <a:blip r:embed="rId5"/>
          <a:stretch>
            <a:fillRect/>
          </a:stretch>
        </p:blipFill>
        <p:spPr>
          <a:xfrm>
            <a:off x="5852160" y="1353312"/>
            <a:ext cx="5806440" cy="3709670"/>
          </a:xfrm>
          <a:prstGeom prst="rect">
            <a:avLst/>
          </a:prstGeom>
        </p:spPr>
      </p:pic>
      <p:sp>
        <p:nvSpPr>
          <p:cNvPr id="40" name="Shape 33"/>
          <p:cNvSpPr/>
          <p:nvPr/>
        </p:nvSpPr>
        <p:spPr>
          <a:xfrm>
            <a:off x="5779008" y="5257800"/>
            <a:ext cx="5952744" cy="960120"/>
          </a:xfrm>
          <a:prstGeom prst="roundRect">
            <a:avLst>
              <a:gd name="adj" fmla="val 9524"/>
            </a:avLst>
          </a:prstGeom>
          <a:solidFill>
            <a:srgbClr val="151D4D"/>
          </a:solidFill>
          <a:ln w="12700">
            <a:solidFill>
              <a:srgbClr val="34458A"/>
            </a:solidFill>
            <a:prstDash val="solid"/>
          </a:ln>
        </p:spPr>
      </p:sp>
      <p:sp>
        <p:nvSpPr>
          <p:cNvPr id="41" name="Text 34"/>
          <p:cNvSpPr txBox="1"/>
          <p:nvPr/>
        </p:nvSpPr>
        <p:spPr>
          <a:xfrm>
            <a:off x="5989320" y="5349240"/>
            <a:ext cx="2743200" cy="228600"/>
          </a:xfrm>
          <a:prstGeom prst="rect">
            <a:avLst/>
          </a:prstGeom>
          <a:noFill/>
          <a:ln/>
        </p:spPr>
        <p:txBody>
          <a:bodyPr wrap="square" lIns="0" tIns="0" rIns="0" bIns="0" rtlCol="0" anchor="t"/>
          <a:lstStyle/>
          <a:p>
            <a:pPr indent="0" marL="0">
              <a:buNone/>
            </a:pPr>
            <a:r>
              <a:rPr lang="en-US" sz="1000" b="1" dirty="0">
                <a:solidFill>
                  <a:srgbClr val="38BDF8"/>
                </a:solidFill>
                <a:latin typeface="Calibri" pitchFamily="34" charset="0"/>
                <a:ea typeface="Calibri" pitchFamily="34" charset="-122"/>
                <a:cs typeface="Calibri" pitchFamily="34" charset="-120"/>
              </a:rPr>
              <a:t>LIVE DEMO VALUES</a:t>
            </a:r>
            <a:endParaRPr lang="en-US" sz="1000" dirty="0"/>
          </a:p>
        </p:txBody>
      </p:sp>
      <p:sp>
        <p:nvSpPr>
          <p:cNvPr id="42" name="Text 35"/>
          <p:cNvSpPr txBox="1"/>
          <p:nvPr/>
        </p:nvSpPr>
        <p:spPr>
          <a:xfrm>
            <a:off x="5989320" y="5650992"/>
            <a:ext cx="5577840" cy="36576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Income ₹5,989.82   |   Expenses ₹2,166.55   |   Savings rate 63.8%   |   Health 100/100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From Onboarding to Wealth: A 5-Stage Journey</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77856" y="6473952"/>
            <a:ext cx="128016" cy="128016"/>
          </a:xfrm>
          <a:prstGeom prst="ellipse">
            <a:avLst/>
          </a:prstGeom>
          <a:solidFill>
            <a:srgbClr val="38BDF8"/>
          </a:solidFill>
          <a:ln w="12700">
            <a:solidFill>
              <a:srgbClr val="38BDF8"/>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188720"/>
            <a:ext cx="2377440" cy="685800"/>
          </a:xfrm>
          <a:prstGeom prst="chevron">
            <a:avLst/>
          </a:prstGeom>
          <a:solidFill>
            <a:srgbClr val="4169E1"/>
          </a:solidFill>
          <a:ln w="12700">
            <a:solidFill>
              <a:srgbClr val="4169E1"/>
            </a:solidFill>
            <a:prstDash val="solid"/>
          </a:ln>
        </p:spPr>
      </p:sp>
      <p:sp>
        <p:nvSpPr>
          <p:cNvPr id="19" name="Text 17"/>
          <p:cNvSpPr txBox="1"/>
          <p:nvPr/>
        </p:nvSpPr>
        <p:spPr>
          <a:xfrm>
            <a:off x="777240" y="1188720"/>
            <a:ext cx="17373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ONBOARD</a:t>
            </a:r>
            <a:endParaRPr lang="en-US" sz="1400" dirty="0"/>
          </a:p>
        </p:txBody>
      </p:sp>
      <p:sp>
        <p:nvSpPr>
          <p:cNvPr id="20" name="Shape 18"/>
          <p:cNvSpPr/>
          <p:nvPr/>
        </p:nvSpPr>
        <p:spPr>
          <a:xfrm>
            <a:off x="502920" y="2057400"/>
            <a:ext cx="2103120" cy="1783080"/>
          </a:xfrm>
          <a:prstGeom prst="roundRect">
            <a:avLst>
              <a:gd name="adj" fmla="val 5128"/>
            </a:avLst>
          </a:prstGeom>
          <a:solidFill>
            <a:srgbClr val="151D4D"/>
          </a:solidFill>
          <a:ln w="12700">
            <a:solidFill>
              <a:srgbClr val="34458A"/>
            </a:solidFill>
            <a:prstDash val="solid"/>
          </a:ln>
        </p:spPr>
      </p:sp>
      <p:sp>
        <p:nvSpPr>
          <p:cNvPr id="21" name="Text 19"/>
          <p:cNvSpPr txBox="1"/>
          <p:nvPr/>
        </p:nvSpPr>
        <p:spPr>
          <a:xfrm>
            <a:off x="640080" y="2194560"/>
            <a:ext cx="182880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1-click Instant Demo</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PBKDF2 secure sign-up</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Session persists across pages</a:t>
            </a:r>
            <a:endParaRPr lang="en-US" sz="1300" dirty="0"/>
          </a:p>
        </p:txBody>
      </p:sp>
      <p:sp>
        <p:nvSpPr>
          <p:cNvPr id="22" name="Shape 20"/>
          <p:cNvSpPr/>
          <p:nvPr/>
        </p:nvSpPr>
        <p:spPr>
          <a:xfrm>
            <a:off x="2679192" y="1188720"/>
            <a:ext cx="2377440" cy="685800"/>
          </a:xfrm>
          <a:prstGeom prst="chevron">
            <a:avLst/>
          </a:prstGeom>
          <a:solidFill>
            <a:srgbClr val="38BDF8"/>
          </a:solidFill>
          <a:ln w="12700">
            <a:solidFill>
              <a:srgbClr val="38BDF8"/>
            </a:solidFill>
            <a:prstDash val="solid"/>
          </a:ln>
        </p:spPr>
      </p:sp>
      <p:sp>
        <p:nvSpPr>
          <p:cNvPr id="23" name="Text 21"/>
          <p:cNvSpPr txBox="1"/>
          <p:nvPr/>
        </p:nvSpPr>
        <p:spPr>
          <a:xfrm>
            <a:off x="2999232" y="1188720"/>
            <a:ext cx="1737360" cy="685800"/>
          </a:xfrm>
          <a:prstGeom prst="rect">
            <a:avLst/>
          </a:prstGeom>
          <a:noFill/>
          <a:ln/>
        </p:spPr>
        <p:txBody>
          <a:bodyPr wrap="square" lIns="0" tIns="0" rIns="0" bIns="0" rtlCol="0" anchor="ctr"/>
          <a:lstStyle/>
          <a:p>
            <a:pPr algn="ctr" indent="0" marL="0">
              <a:buNone/>
            </a:pPr>
            <a:r>
              <a:rPr lang="en-US" sz="1400" b="1" dirty="0">
                <a:solidFill>
                  <a:srgbClr val="080D2B"/>
                </a:solidFill>
                <a:latin typeface="Calibri" pitchFamily="34" charset="0"/>
                <a:ea typeface="Calibri" pitchFamily="34" charset="-122"/>
                <a:cs typeface="Calibri" pitchFamily="34" charset="-120"/>
              </a:rPr>
              <a:t>2  CAPTURE</a:t>
            </a:r>
            <a:endParaRPr lang="en-US" sz="1400" dirty="0"/>
          </a:p>
        </p:txBody>
      </p:sp>
      <p:sp>
        <p:nvSpPr>
          <p:cNvPr id="24" name="Shape 22"/>
          <p:cNvSpPr/>
          <p:nvPr/>
        </p:nvSpPr>
        <p:spPr>
          <a:xfrm>
            <a:off x="2724912" y="2057400"/>
            <a:ext cx="2103120" cy="1783080"/>
          </a:xfrm>
          <a:prstGeom prst="roundRect">
            <a:avLst>
              <a:gd name="adj" fmla="val 5128"/>
            </a:avLst>
          </a:prstGeom>
          <a:solidFill>
            <a:srgbClr val="151D4D"/>
          </a:solidFill>
          <a:ln w="12700">
            <a:solidFill>
              <a:srgbClr val="34458A"/>
            </a:solidFill>
            <a:prstDash val="solid"/>
          </a:ln>
        </p:spPr>
      </p:sp>
      <p:sp>
        <p:nvSpPr>
          <p:cNvPr id="25" name="Text 23"/>
          <p:cNvSpPr txBox="1"/>
          <p:nvPr/>
        </p:nvSpPr>
        <p:spPr>
          <a:xfrm>
            <a:off x="2862072" y="2194560"/>
            <a:ext cx="182880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Quick Add entry</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CSV/XLSX drag-and-drop</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Recurring expense flags</a:t>
            </a:r>
            <a:endParaRPr lang="en-US" sz="1300" dirty="0"/>
          </a:p>
        </p:txBody>
      </p:sp>
      <p:sp>
        <p:nvSpPr>
          <p:cNvPr id="26" name="Shape 24"/>
          <p:cNvSpPr/>
          <p:nvPr/>
        </p:nvSpPr>
        <p:spPr>
          <a:xfrm>
            <a:off x="4901184" y="1188720"/>
            <a:ext cx="2377440" cy="685800"/>
          </a:xfrm>
          <a:prstGeom prst="chevron">
            <a:avLst/>
          </a:prstGeom>
          <a:solidFill>
            <a:srgbClr val="10B981"/>
          </a:solidFill>
          <a:ln w="12700">
            <a:solidFill>
              <a:srgbClr val="10B981"/>
            </a:solidFill>
            <a:prstDash val="solid"/>
          </a:ln>
        </p:spPr>
      </p:sp>
      <p:sp>
        <p:nvSpPr>
          <p:cNvPr id="27" name="Text 25"/>
          <p:cNvSpPr txBox="1"/>
          <p:nvPr/>
        </p:nvSpPr>
        <p:spPr>
          <a:xfrm>
            <a:off x="5221224" y="1188720"/>
            <a:ext cx="1737360" cy="685800"/>
          </a:xfrm>
          <a:prstGeom prst="rect">
            <a:avLst/>
          </a:prstGeom>
          <a:noFill/>
          <a:ln/>
        </p:spPr>
        <p:txBody>
          <a:bodyPr wrap="square" lIns="0" tIns="0" rIns="0" bIns="0" rtlCol="0" anchor="ctr"/>
          <a:lstStyle/>
          <a:p>
            <a:pPr algn="ctr" indent="0" marL="0">
              <a:buNone/>
            </a:pPr>
            <a:r>
              <a:rPr lang="en-US" sz="1400" b="1" dirty="0">
                <a:solidFill>
                  <a:srgbClr val="080D2B"/>
                </a:solidFill>
                <a:latin typeface="Calibri" pitchFamily="34" charset="0"/>
                <a:ea typeface="Calibri" pitchFamily="34" charset="-122"/>
                <a:cs typeface="Calibri" pitchFamily="34" charset="-120"/>
              </a:rPr>
              <a:t>3  MONITOR</a:t>
            </a:r>
            <a:endParaRPr lang="en-US" sz="1400" dirty="0"/>
          </a:p>
        </p:txBody>
      </p:sp>
      <p:sp>
        <p:nvSpPr>
          <p:cNvPr id="28" name="Shape 26"/>
          <p:cNvSpPr/>
          <p:nvPr/>
        </p:nvSpPr>
        <p:spPr>
          <a:xfrm>
            <a:off x="4946904" y="2057400"/>
            <a:ext cx="2103120" cy="1783080"/>
          </a:xfrm>
          <a:prstGeom prst="roundRect">
            <a:avLst>
              <a:gd name="adj" fmla="val 5128"/>
            </a:avLst>
          </a:prstGeom>
          <a:solidFill>
            <a:srgbClr val="151D4D"/>
          </a:solidFill>
          <a:ln w="12700">
            <a:solidFill>
              <a:srgbClr val="34458A"/>
            </a:solidFill>
            <a:prstDash val="solid"/>
          </a:ln>
        </p:spPr>
      </p:sp>
      <p:sp>
        <p:nvSpPr>
          <p:cNvPr id="29" name="Text 27"/>
          <p:cNvSpPr txBox="1"/>
          <p:nvPr/>
        </p:nvSpPr>
        <p:spPr>
          <a:xfrm>
            <a:off x="5084064" y="2194560"/>
            <a:ext cx="182880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Monthly category caps</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Under 75% green, 75-99% amber</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100%+ red alert</a:t>
            </a:r>
            <a:endParaRPr lang="en-US" sz="1300" dirty="0"/>
          </a:p>
        </p:txBody>
      </p:sp>
      <p:sp>
        <p:nvSpPr>
          <p:cNvPr id="30" name="Shape 28"/>
          <p:cNvSpPr/>
          <p:nvPr/>
        </p:nvSpPr>
        <p:spPr>
          <a:xfrm>
            <a:off x="7123176" y="1188720"/>
            <a:ext cx="2377440" cy="685800"/>
          </a:xfrm>
          <a:prstGeom prst="chevron">
            <a:avLst/>
          </a:prstGeom>
          <a:solidFill>
            <a:srgbClr val="F59E0B"/>
          </a:solidFill>
          <a:ln w="12700">
            <a:solidFill>
              <a:srgbClr val="F59E0B"/>
            </a:solidFill>
            <a:prstDash val="solid"/>
          </a:ln>
        </p:spPr>
      </p:sp>
      <p:sp>
        <p:nvSpPr>
          <p:cNvPr id="31" name="Text 29"/>
          <p:cNvSpPr txBox="1"/>
          <p:nvPr/>
        </p:nvSpPr>
        <p:spPr>
          <a:xfrm>
            <a:off x="7443216" y="1188720"/>
            <a:ext cx="1737360" cy="685800"/>
          </a:xfrm>
          <a:prstGeom prst="rect">
            <a:avLst/>
          </a:prstGeom>
          <a:noFill/>
          <a:ln/>
        </p:spPr>
        <p:txBody>
          <a:bodyPr wrap="square" lIns="0" tIns="0" rIns="0" bIns="0" rtlCol="0" anchor="ctr"/>
          <a:lstStyle/>
          <a:p>
            <a:pPr algn="ctr" indent="0" marL="0">
              <a:buNone/>
            </a:pPr>
            <a:r>
              <a:rPr lang="en-US" sz="1400" b="1" dirty="0">
                <a:solidFill>
                  <a:srgbClr val="080D2B"/>
                </a:solidFill>
                <a:latin typeface="Calibri" pitchFamily="34" charset="0"/>
                <a:ea typeface="Calibri" pitchFamily="34" charset="-122"/>
                <a:cs typeface="Calibri" pitchFamily="34" charset="-120"/>
              </a:rPr>
              <a:t>4  FORECAST</a:t>
            </a:r>
            <a:endParaRPr lang="en-US" sz="1400" dirty="0"/>
          </a:p>
        </p:txBody>
      </p:sp>
      <p:sp>
        <p:nvSpPr>
          <p:cNvPr id="32" name="Shape 30"/>
          <p:cNvSpPr/>
          <p:nvPr/>
        </p:nvSpPr>
        <p:spPr>
          <a:xfrm>
            <a:off x="7168896" y="2057400"/>
            <a:ext cx="2103120" cy="1783080"/>
          </a:xfrm>
          <a:prstGeom prst="roundRect">
            <a:avLst>
              <a:gd name="adj" fmla="val 5128"/>
            </a:avLst>
          </a:prstGeom>
          <a:solidFill>
            <a:srgbClr val="151D4D"/>
          </a:solidFill>
          <a:ln w="12700">
            <a:solidFill>
              <a:srgbClr val="34458A"/>
            </a:solidFill>
            <a:prstDash val="solid"/>
          </a:ln>
        </p:spPr>
      </p:sp>
      <p:sp>
        <p:nvSpPr>
          <p:cNvPr id="33" name="Text 31"/>
          <p:cNvSpPr txBox="1"/>
          <p:nvPr/>
        </p:nvSpPr>
        <p:spPr>
          <a:xfrm>
            <a:off x="7306056" y="2194560"/>
            <a:ext cx="182880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Scikit-learn regression</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Next-month projection</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95% confidence range</a:t>
            </a:r>
            <a:endParaRPr lang="en-US" sz="1300" dirty="0"/>
          </a:p>
        </p:txBody>
      </p:sp>
      <p:sp>
        <p:nvSpPr>
          <p:cNvPr id="34" name="Shape 32"/>
          <p:cNvSpPr/>
          <p:nvPr/>
        </p:nvSpPr>
        <p:spPr>
          <a:xfrm>
            <a:off x="9345168" y="1188720"/>
            <a:ext cx="2377440" cy="685800"/>
          </a:xfrm>
          <a:prstGeom prst="chevron">
            <a:avLst/>
          </a:prstGeom>
          <a:solidFill>
            <a:srgbClr val="C52DDB"/>
          </a:solidFill>
          <a:ln w="12700">
            <a:solidFill>
              <a:srgbClr val="C52DDB"/>
            </a:solidFill>
            <a:prstDash val="solid"/>
          </a:ln>
        </p:spPr>
      </p:sp>
      <p:sp>
        <p:nvSpPr>
          <p:cNvPr id="35" name="Text 33"/>
          <p:cNvSpPr txBox="1"/>
          <p:nvPr/>
        </p:nvSpPr>
        <p:spPr>
          <a:xfrm>
            <a:off x="9665208" y="1188720"/>
            <a:ext cx="17373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OPTIMIZE</a:t>
            </a:r>
            <a:endParaRPr lang="en-US" sz="1400" dirty="0"/>
          </a:p>
        </p:txBody>
      </p:sp>
      <p:sp>
        <p:nvSpPr>
          <p:cNvPr id="36" name="Shape 34"/>
          <p:cNvSpPr/>
          <p:nvPr/>
        </p:nvSpPr>
        <p:spPr>
          <a:xfrm>
            <a:off x="9390888" y="2057400"/>
            <a:ext cx="2103120" cy="1783080"/>
          </a:xfrm>
          <a:prstGeom prst="roundRect">
            <a:avLst>
              <a:gd name="adj" fmla="val 5128"/>
            </a:avLst>
          </a:prstGeom>
          <a:solidFill>
            <a:srgbClr val="151D4D"/>
          </a:solidFill>
          <a:ln w="12700">
            <a:solidFill>
              <a:srgbClr val="34458A"/>
            </a:solidFill>
            <a:prstDash val="solid"/>
          </a:ln>
        </p:spPr>
      </p:sp>
      <p:sp>
        <p:nvSpPr>
          <p:cNvPr id="37" name="Text 35"/>
          <p:cNvSpPr txBox="1"/>
          <p:nvPr/>
        </p:nvSpPr>
        <p:spPr>
          <a:xfrm>
            <a:off x="9528048" y="2194560"/>
            <a:ext cx="182880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50/30/20 rule audit</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Anomaly spike alerts</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Goals and PDF export</a:t>
            </a:r>
            <a:endParaRPr lang="en-US" sz="1300" dirty="0"/>
          </a:p>
        </p:txBody>
      </p:sp>
      <p:sp>
        <p:nvSpPr>
          <p:cNvPr id="38" name="Shape 36"/>
          <p:cNvSpPr/>
          <p:nvPr/>
        </p:nvSpPr>
        <p:spPr>
          <a:xfrm>
            <a:off x="457200" y="4114800"/>
            <a:ext cx="3392424" cy="2220214"/>
          </a:xfrm>
          <a:prstGeom prst="roundRect">
            <a:avLst>
              <a:gd name="adj" fmla="val 4119"/>
            </a:avLst>
          </a:prstGeom>
          <a:solidFill>
            <a:srgbClr val="151D4D"/>
          </a:solidFill>
          <a:ln w="15875">
            <a:solidFill>
              <a:srgbClr val="4169E1"/>
            </a:solidFill>
            <a:prstDash val="solid"/>
          </a:ln>
        </p:spPr>
      </p:sp>
      <p:pic>
        <p:nvPicPr>
          <p:cNvPr id="39" name="Image 0" descr="/home/claude/deck/01_auth_screen.jpg">    </p:cNvPr>
          <p:cNvPicPr>
            <a:picLocks noChangeAspect="1"/>
          </p:cNvPicPr>
          <p:nvPr/>
        </p:nvPicPr>
        <p:blipFill>
          <a:blip r:embed="rId1"/>
          <a:stretch>
            <a:fillRect/>
          </a:stretch>
        </p:blipFill>
        <p:spPr>
          <a:xfrm>
            <a:off x="530352" y="4187952"/>
            <a:ext cx="3246120" cy="2073910"/>
          </a:xfrm>
          <a:prstGeom prst="rect">
            <a:avLst/>
          </a:prstGeom>
        </p:spPr>
      </p:pic>
      <p:sp>
        <p:nvSpPr>
          <p:cNvPr id="40" name="Shape 37"/>
          <p:cNvSpPr/>
          <p:nvPr/>
        </p:nvSpPr>
        <p:spPr>
          <a:xfrm>
            <a:off x="4160520" y="4114800"/>
            <a:ext cx="7571232" cy="2103120"/>
          </a:xfrm>
          <a:prstGeom prst="roundRect">
            <a:avLst>
              <a:gd name="adj" fmla="val 4348"/>
            </a:avLst>
          </a:prstGeom>
          <a:solidFill>
            <a:srgbClr val="151D4D"/>
          </a:solidFill>
          <a:ln w="12700">
            <a:solidFill>
              <a:srgbClr val="34458A"/>
            </a:solidFill>
            <a:prstDash val="solid"/>
          </a:ln>
        </p:spPr>
      </p:sp>
      <p:sp>
        <p:nvSpPr>
          <p:cNvPr id="41" name="Shape 38"/>
          <p:cNvSpPr/>
          <p:nvPr/>
        </p:nvSpPr>
        <p:spPr>
          <a:xfrm>
            <a:off x="4389120" y="4279392"/>
            <a:ext cx="457200" cy="457200"/>
          </a:xfrm>
          <a:prstGeom prst="ellipse">
            <a:avLst/>
          </a:prstGeom>
          <a:solidFill>
            <a:srgbClr val="F59E0B"/>
          </a:solidFill>
          <a:ln w="12700">
            <a:solidFill>
              <a:srgbClr val="F59E0B"/>
            </a:solidFill>
            <a:prstDash val="solid"/>
          </a:ln>
        </p:spPr>
      </p:sp>
      <p:pic>
        <p:nvPicPr>
          <p:cNvPr id="42" name="Image 1" descr="preencoded.png">    </p:cNvPr>
          <p:cNvPicPr>
            <a:picLocks noChangeAspect="1"/>
          </p:cNvPicPr>
          <p:nvPr/>
        </p:nvPicPr>
        <p:blipFill>
          <a:blip r:embed="rId2"/>
          <a:stretch>
            <a:fillRect/>
          </a:stretch>
        </p:blipFill>
        <p:spPr>
          <a:xfrm>
            <a:off x="4503420" y="4393692"/>
            <a:ext cx="228600" cy="228600"/>
          </a:xfrm>
          <a:prstGeom prst="rect">
            <a:avLst/>
          </a:prstGeom>
        </p:spPr>
      </p:pic>
      <p:sp>
        <p:nvSpPr>
          <p:cNvPr id="43" name="Text 39"/>
          <p:cNvSpPr txBox="1"/>
          <p:nvPr/>
        </p:nvSpPr>
        <p:spPr>
          <a:xfrm>
            <a:off x="5029200" y="4279392"/>
            <a:ext cx="6492240" cy="45720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Instant Demo seeds 6 months of data (3,721 transactions) with no sign-up.</a:t>
            </a:r>
            <a:endParaRPr lang="en-US" sz="1400" dirty="0"/>
          </a:p>
        </p:txBody>
      </p:sp>
      <p:sp>
        <p:nvSpPr>
          <p:cNvPr id="44" name="Shape 40"/>
          <p:cNvSpPr/>
          <p:nvPr/>
        </p:nvSpPr>
        <p:spPr>
          <a:xfrm>
            <a:off x="4389120" y="4892040"/>
            <a:ext cx="457200" cy="457200"/>
          </a:xfrm>
          <a:prstGeom prst="ellipse">
            <a:avLst/>
          </a:prstGeom>
          <a:solidFill>
            <a:srgbClr val="4169E1"/>
          </a:solidFill>
          <a:ln w="12700">
            <a:solidFill>
              <a:srgbClr val="4169E1"/>
            </a:solidFill>
            <a:prstDash val="solid"/>
          </a:ln>
        </p:spPr>
      </p:sp>
      <p:pic>
        <p:nvPicPr>
          <p:cNvPr id="45" name="Image 2" descr="preencoded.png">    </p:cNvPr>
          <p:cNvPicPr>
            <a:picLocks noChangeAspect="1"/>
          </p:cNvPicPr>
          <p:nvPr/>
        </p:nvPicPr>
        <p:blipFill>
          <a:blip r:embed="rId3"/>
          <a:stretch>
            <a:fillRect/>
          </a:stretch>
        </p:blipFill>
        <p:spPr>
          <a:xfrm>
            <a:off x="4503420" y="5006340"/>
            <a:ext cx="228600" cy="228600"/>
          </a:xfrm>
          <a:prstGeom prst="rect">
            <a:avLst/>
          </a:prstGeom>
        </p:spPr>
      </p:pic>
      <p:sp>
        <p:nvSpPr>
          <p:cNvPr id="46" name="Text 41"/>
          <p:cNvSpPr txBox="1"/>
          <p:nvPr/>
        </p:nvSpPr>
        <p:spPr>
          <a:xfrm>
            <a:off x="5029200" y="4892040"/>
            <a:ext cx="6492240" cy="45720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Registration: name, email, username, password. Unique email enforced.</a:t>
            </a:r>
            <a:endParaRPr lang="en-US" sz="1400" dirty="0"/>
          </a:p>
        </p:txBody>
      </p:sp>
      <p:sp>
        <p:nvSpPr>
          <p:cNvPr id="47" name="Shape 42"/>
          <p:cNvSpPr/>
          <p:nvPr/>
        </p:nvSpPr>
        <p:spPr>
          <a:xfrm>
            <a:off x="4389120" y="5504688"/>
            <a:ext cx="457200" cy="457200"/>
          </a:xfrm>
          <a:prstGeom prst="ellipse">
            <a:avLst/>
          </a:prstGeom>
          <a:solidFill>
            <a:srgbClr val="10B981"/>
          </a:solidFill>
          <a:ln w="12700">
            <a:solidFill>
              <a:srgbClr val="10B981"/>
            </a:solidFill>
            <a:prstDash val="solid"/>
          </a:ln>
        </p:spPr>
      </p:sp>
      <p:pic>
        <p:nvPicPr>
          <p:cNvPr id="48" name="Image 3" descr="preencoded.png">    </p:cNvPr>
          <p:cNvPicPr>
            <a:picLocks noChangeAspect="1"/>
          </p:cNvPicPr>
          <p:nvPr/>
        </p:nvPicPr>
        <p:blipFill>
          <a:blip r:embed="rId4"/>
          <a:stretch>
            <a:fillRect/>
          </a:stretch>
        </p:blipFill>
        <p:spPr>
          <a:xfrm>
            <a:off x="4503420" y="5618988"/>
            <a:ext cx="228600" cy="228600"/>
          </a:xfrm>
          <a:prstGeom prst="rect">
            <a:avLst/>
          </a:prstGeom>
        </p:spPr>
      </p:pic>
      <p:sp>
        <p:nvSpPr>
          <p:cNvPr id="49" name="Text 43"/>
          <p:cNvSpPr txBox="1"/>
          <p:nvPr/>
        </p:nvSpPr>
        <p:spPr>
          <a:xfrm>
            <a:off x="5029200" y="5504688"/>
            <a:ext cx="6492240" cy="45720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Passwords hashed with PBKDF2-HMAC-SHA256 and a random per-user salt.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3-Tier Architecture with Dual-Engine Persistence</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42448" y="6473952"/>
            <a:ext cx="128016" cy="128016"/>
          </a:xfrm>
          <a:prstGeom prst="ellipse">
            <a:avLst/>
          </a:prstGeom>
          <a:solidFill>
            <a:srgbClr val="38BDF8"/>
          </a:solidFill>
          <a:ln w="12700">
            <a:solidFill>
              <a:srgbClr val="38BDF8"/>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188720"/>
            <a:ext cx="11274552" cy="731520"/>
          </a:xfrm>
          <a:prstGeom prst="roundRect">
            <a:avLst>
              <a:gd name="adj" fmla="val 12500"/>
            </a:avLst>
          </a:prstGeom>
          <a:solidFill>
            <a:srgbClr val="151D4D"/>
          </a:solidFill>
          <a:ln w="12700">
            <a:solidFill>
              <a:srgbClr val="34458A"/>
            </a:solidFill>
            <a:prstDash val="solid"/>
          </a:ln>
        </p:spPr>
      </p:sp>
      <p:sp>
        <p:nvSpPr>
          <p:cNvPr id="19" name="Text 17"/>
          <p:cNvSpPr txBox="1"/>
          <p:nvPr/>
        </p:nvSpPr>
        <p:spPr>
          <a:xfrm>
            <a:off x="685800" y="1325880"/>
            <a:ext cx="173736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PRESENTATION</a:t>
            </a:r>
            <a:endParaRPr lang="en-US" sz="1200" dirty="0"/>
          </a:p>
        </p:txBody>
      </p:sp>
      <p:sp>
        <p:nvSpPr>
          <p:cNvPr id="20" name="Text 18"/>
          <p:cNvSpPr txBox="1"/>
          <p:nvPr/>
        </p:nvSpPr>
        <p:spPr>
          <a:xfrm>
            <a:off x="685800" y="1600200"/>
            <a:ext cx="1737360" cy="2743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Browser client</a:t>
            </a:r>
            <a:endParaRPr lang="en-US" sz="1100" dirty="0"/>
          </a:p>
        </p:txBody>
      </p:sp>
      <p:sp>
        <p:nvSpPr>
          <p:cNvPr id="21" name="Shape 19"/>
          <p:cNvSpPr/>
          <p:nvPr/>
        </p:nvSpPr>
        <p:spPr>
          <a:xfrm>
            <a:off x="2468880" y="1371600"/>
            <a:ext cx="2203704" cy="384048"/>
          </a:xfrm>
          <a:prstGeom prst="roundRect">
            <a:avLst>
              <a:gd name="adj" fmla="val 19048"/>
            </a:avLst>
          </a:prstGeom>
          <a:solidFill>
            <a:srgbClr val="0D1440"/>
          </a:solidFill>
          <a:ln w="12700">
            <a:solidFill>
              <a:srgbClr val="34458A"/>
            </a:solidFill>
            <a:prstDash val="solid"/>
          </a:ln>
        </p:spPr>
      </p:sp>
      <p:sp>
        <p:nvSpPr>
          <p:cNvPr id="22" name="Text 20"/>
          <p:cNvSpPr txBox="1"/>
          <p:nvPr/>
        </p:nvSpPr>
        <p:spPr>
          <a:xfrm>
            <a:off x="2514600" y="1371600"/>
            <a:ext cx="2112264" cy="38404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Modern web browser</a:t>
            </a:r>
            <a:endParaRPr lang="en-US" sz="1100" dirty="0"/>
          </a:p>
        </p:txBody>
      </p:sp>
      <p:sp>
        <p:nvSpPr>
          <p:cNvPr id="23" name="Shape 21"/>
          <p:cNvSpPr/>
          <p:nvPr/>
        </p:nvSpPr>
        <p:spPr>
          <a:xfrm>
            <a:off x="4782312" y="1371600"/>
            <a:ext cx="2203704" cy="384048"/>
          </a:xfrm>
          <a:prstGeom prst="roundRect">
            <a:avLst>
              <a:gd name="adj" fmla="val 19048"/>
            </a:avLst>
          </a:prstGeom>
          <a:solidFill>
            <a:srgbClr val="0D1440"/>
          </a:solidFill>
          <a:ln w="12700">
            <a:solidFill>
              <a:srgbClr val="34458A"/>
            </a:solidFill>
            <a:prstDash val="solid"/>
          </a:ln>
        </p:spPr>
      </p:sp>
      <p:sp>
        <p:nvSpPr>
          <p:cNvPr id="24" name="Text 22"/>
          <p:cNvSpPr txBox="1"/>
          <p:nvPr/>
        </p:nvSpPr>
        <p:spPr>
          <a:xfrm>
            <a:off x="4828032" y="1371600"/>
            <a:ext cx="2112264" cy="38404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Glassmorphic CSS (utils/css.py)</a:t>
            </a:r>
            <a:endParaRPr lang="en-US" sz="1100" dirty="0"/>
          </a:p>
        </p:txBody>
      </p:sp>
      <p:sp>
        <p:nvSpPr>
          <p:cNvPr id="25" name="Shape 23"/>
          <p:cNvSpPr/>
          <p:nvPr/>
        </p:nvSpPr>
        <p:spPr>
          <a:xfrm>
            <a:off x="7095744" y="1371600"/>
            <a:ext cx="2203704" cy="384048"/>
          </a:xfrm>
          <a:prstGeom prst="roundRect">
            <a:avLst>
              <a:gd name="adj" fmla="val 19048"/>
            </a:avLst>
          </a:prstGeom>
          <a:solidFill>
            <a:srgbClr val="0D1440"/>
          </a:solidFill>
          <a:ln w="12700">
            <a:solidFill>
              <a:srgbClr val="34458A"/>
            </a:solidFill>
            <a:prstDash val="solid"/>
          </a:ln>
        </p:spPr>
      </p:sp>
      <p:sp>
        <p:nvSpPr>
          <p:cNvPr id="26" name="Text 24"/>
          <p:cNvSpPr txBox="1"/>
          <p:nvPr/>
        </p:nvSpPr>
        <p:spPr>
          <a:xfrm>
            <a:off x="7141464" y="1371600"/>
            <a:ext cx="2112264" cy="38404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Plotly interactive charts</a:t>
            </a:r>
            <a:endParaRPr lang="en-US" sz="1100" dirty="0"/>
          </a:p>
        </p:txBody>
      </p:sp>
      <p:sp>
        <p:nvSpPr>
          <p:cNvPr id="27" name="Shape 25"/>
          <p:cNvSpPr/>
          <p:nvPr/>
        </p:nvSpPr>
        <p:spPr>
          <a:xfrm>
            <a:off x="9409176" y="1371600"/>
            <a:ext cx="2203704" cy="384048"/>
          </a:xfrm>
          <a:prstGeom prst="roundRect">
            <a:avLst>
              <a:gd name="adj" fmla="val 19048"/>
            </a:avLst>
          </a:prstGeom>
          <a:solidFill>
            <a:srgbClr val="0D1440"/>
          </a:solidFill>
          <a:ln w="12700">
            <a:solidFill>
              <a:srgbClr val="34458A"/>
            </a:solidFill>
            <a:prstDash val="solid"/>
          </a:ln>
        </p:spPr>
      </p:sp>
      <p:sp>
        <p:nvSpPr>
          <p:cNvPr id="28" name="Text 26"/>
          <p:cNvSpPr txBox="1"/>
          <p:nvPr/>
        </p:nvSpPr>
        <p:spPr>
          <a:xfrm>
            <a:off x="9454896" y="1371600"/>
            <a:ext cx="2112264" cy="384048"/>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Google Fonts</a:t>
            </a:r>
            <a:endParaRPr lang="en-US" sz="1100" dirty="0"/>
          </a:p>
        </p:txBody>
      </p:sp>
      <p:sp>
        <p:nvSpPr>
          <p:cNvPr id="29" name="Shape 27"/>
          <p:cNvSpPr/>
          <p:nvPr/>
        </p:nvSpPr>
        <p:spPr>
          <a:xfrm>
            <a:off x="457200" y="2057400"/>
            <a:ext cx="11274552" cy="1600200"/>
          </a:xfrm>
          <a:prstGeom prst="roundRect">
            <a:avLst>
              <a:gd name="adj" fmla="val 5714"/>
            </a:avLst>
          </a:prstGeom>
          <a:solidFill>
            <a:srgbClr val="151D4D"/>
          </a:solidFill>
          <a:ln w="12700">
            <a:solidFill>
              <a:srgbClr val="34458A"/>
            </a:solidFill>
            <a:prstDash val="solid"/>
          </a:ln>
        </p:spPr>
      </p:sp>
      <p:sp>
        <p:nvSpPr>
          <p:cNvPr id="30" name="Text 28"/>
          <p:cNvSpPr txBox="1"/>
          <p:nvPr/>
        </p:nvSpPr>
        <p:spPr>
          <a:xfrm>
            <a:off x="685800" y="2194560"/>
            <a:ext cx="1737360" cy="274320"/>
          </a:xfrm>
          <a:prstGeom prst="rect">
            <a:avLst/>
          </a:prstGeom>
          <a:noFill/>
          <a:ln/>
        </p:spPr>
        <p:txBody>
          <a:bodyPr wrap="square" lIns="0" tIns="0" rIns="0" bIns="0" rtlCol="0" anchor="t"/>
          <a:lstStyle/>
          <a:p>
            <a:pPr indent="0" marL="0">
              <a:buNone/>
            </a:pPr>
            <a:r>
              <a:rPr lang="en-US" sz="1200" b="1" dirty="0">
                <a:solidFill>
                  <a:srgbClr val="4169E1"/>
                </a:solidFill>
                <a:latin typeface="Calibri" pitchFamily="34" charset="0"/>
                <a:ea typeface="Calibri" pitchFamily="34" charset="-122"/>
                <a:cs typeface="Calibri" pitchFamily="34" charset="-120"/>
              </a:rPr>
              <a:t>APPLICATION &amp; LOGIC</a:t>
            </a:r>
            <a:endParaRPr lang="en-US" sz="1200" dirty="0"/>
          </a:p>
        </p:txBody>
      </p:sp>
      <p:sp>
        <p:nvSpPr>
          <p:cNvPr id="31" name="Text 29"/>
          <p:cNvSpPr txBox="1"/>
          <p:nvPr/>
        </p:nvSpPr>
        <p:spPr>
          <a:xfrm>
            <a:off x="685800" y="2468880"/>
            <a:ext cx="1737360" cy="11430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Streamlit + Python, 10 domain modules</a:t>
            </a:r>
            <a:endParaRPr lang="en-US" sz="1100" dirty="0"/>
          </a:p>
        </p:txBody>
      </p:sp>
      <p:sp>
        <p:nvSpPr>
          <p:cNvPr id="32" name="Shape 30"/>
          <p:cNvSpPr/>
          <p:nvPr/>
        </p:nvSpPr>
        <p:spPr>
          <a:xfrm>
            <a:off x="2468880" y="2194560"/>
            <a:ext cx="9144000" cy="384048"/>
          </a:xfrm>
          <a:prstGeom prst="roundRect">
            <a:avLst>
              <a:gd name="adj" fmla="val 19048"/>
            </a:avLst>
          </a:prstGeom>
          <a:solidFill>
            <a:srgbClr val="4169E1"/>
          </a:solidFill>
          <a:ln w="12700">
            <a:solidFill>
              <a:srgbClr val="4169E1"/>
            </a:solidFill>
            <a:prstDash val="solid"/>
          </a:ln>
        </p:spPr>
      </p:sp>
      <p:sp>
        <p:nvSpPr>
          <p:cNvPr id="33" name="Text 31"/>
          <p:cNvSpPr txBox="1"/>
          <p:nvPr/>
        </p:nvSpPr>
        <p:spPr>
          <a:xfrm>
            <a:off x="2514600" y="2194560"/>
            <a:ext cx="9052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app.py: central router (session init, auth gating, theme, navigation)</a:t>
            </a:r>
            <a:endParaRPr lang="en-US" sz="1200" dirty="0"/>
          </a:p>
        </p:txBody>
      </p:sp>
      <p:sp>
        <p:nvSpPr>
          <p:cNvPr id="34" name="Shape 32"/>
          <p:cNvSpPr/>
          <p:nvPr/>
        </p:nvSpPr>
        <p:spPr>
          <a:xfrm>
            <a:off x="2468880" y="2670048"/>
            <a:ext cx="1737360" cy="384048"/>
          </a:xfrm>
          <a:prstGeom prst="roundRect">
            <a:avLst>
              <a:gd name="adj" fmla="val 19048"/>
            </a:avLst>
          </a:prstGeom>
          <a:solidFill>
            <a:srgbClr val="0D1440"/>
          </a:solidFill>
          <a:ln w="12700">
            <a:solidFill>
              <a:srgbClr val="34458A"/>
            </a:solidFill>
            <a:prstDash val="solid"/>
          </a:ln>
        </p:spPr>
      </p:sp>
      <p:sp>
        <p:nvSpPr>
          <p:cNvPr id="35" name="Text 33"/>
          <p:cNvSpPr txBox="1"/>
          <p:nvPr/>
        </p:nvSpPr>
        <p:spPr>
          <a:xfrm>
            <a:off x="2514600" y="26700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auth</a:t>
            </a:r>
            <a:endParaRPr lang="en-US" sz="1200" dirty="0"/>
          </a:p>
        </p:txBody>
      </p:sp>
      <p:sp>
        <p:nvSpPr>
          <p:cNvPr id="36" name="Shape 34"/>
          <p:cNvSpPr/>
          <p:nvPr/>
        </p:nvSpPr>
        <p:spPr>
          <a:xfrm>
            <a:off x="4325112" y="2670048"/>
            <a:ext cx="1737360" cy="384048"/>
          </a:xfrm>
          <a:prstGeom prst="roundRect">
            <a:avLst>
              <a:gd name="adj" fmla="val 19048"/>
            </a:avLst>
          </a:prstGeom>
          <a:solidFill>
            <a:srgbClr val="0D1440"/>
          </a:solidFill>
          <a:ln w="12700">
            <a:solidFill>
              <a:srgbClr val="34458A"/>
            </a:solidFill>
            <a:prstDash val="solid"/>
          </a:ln>
        </p:spPr>
      </p:sp>
      <p:sp>
        <p:nvSpPr>
          <p:cNvPr id="37" name="Text 35"/>
          <p:cNvSpPr txBox="1"/>
          <p:nvPr/>
        </p:nvSpPr>
        <p:spPr>
          <a:xfrm>
            <a:off x="4370832" y="26700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dashboard</a:t>
            </a:r>
            <a:endParaRPr lang="en-US" sz="1200" dirty="0"/>
          </a:p>
        </p:txBody>
      </p:sp>
      <p:sp>
        <p:nvSpPr>
          <p:cNvPr id="38" name="Shape 36"/>
          <p:cNvSpPr/>
          <p:nvPr/>
        </p:nvSpPr>
        <p:spPr>
          <a:xfrm>
            <a:off x="6181344" y="2670048"/>
            <a:ext cx="1737360" cy="384048"/>
          </a:xfrm>
          <a:prstGeom prst="roundRect">
            <a:avLst>
              <a:gd name="adj" fmla="val 19048"/>
            </a:avLst>
          </a:prstGeom>
          <a:solidFill>
            <a:srgbClr val="0D1440"/>
          </a:solidFill>
          <a:ln w="12700">
            <a:solidFill>
              <a:srgbClr val="34458A"/>
            </a:solidFill>
            <a:prstDash val="solid"/>
          </a:ln>
        </p:spPr>
      </p:sp>
      <p:sp>
        <p:nvSpPr>
          <p:cNvPr id="39" name="Text 37"/>
          <p:cNvSpPr txBox="1"/>
          <p:nvPr/>
        </p:nvSpPr>
        <p:spPr>
          <a:xfrm>
            <a:off x="6227064" y="26700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transactions</a:t>
            </a:r>
            <a:endParaRPr lang="en-US" sz="1200" dirty="0"/>
          </a:p>
        </p:txBody>
      </p:sp>
      <p:sp>
        <p:nvSpPr>
          <p:cNvPr id="40" name="Shape 38"/>
          <p:cNvSpPr/>
          <p:nvPr/>
        </p:nvSpPr>
        <p:spPr>
          <a:xfrm>
            <a:off x="8037576" y="2670048"/>
            <a:ext cx="1737360" cy="384048"/>
          </a:xfrm>
          <a:prstGeom prst="roundRect">
            <a:avLst>
              <a:gd name="adj" fmla="val 19048"/>
            </a:avLst>
          </a:prstGeom>
          <a:solidFill>
            <a:srgbClr val="0D1440"/>
          </a:solidFill>
          <a:ln w="12700">
            <a:solidFill>
              <a:srgbClr val="34458A"/>
            </a:solidFill>
            <a:prstDash val="solid"/>
          </a:ln>
        </p:spPr>
      </p:sp>
      <p:sp>
        <p:nvSpPr>
          <p:cNvPr id="41" name="Text 39"/>
          <p:cNvSpPr txBox="1"/>
          <p:nvPr/>
        </p:nvSpPr>
        <p:spPr>
          <a:xfrm>
            <a:off x="8083296" y="26700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budgets</a:t>
            </a:r>
            <a:endParaRPr lang="en-US" sz="1200" dirty="0"/>
          </a:p>
        </p:txBody>
      </p:sp>
      <p:sp>
        <p:nvSpPr>
          <p:cNvPr id="42" name="Shape 40"/>
          <p:cNvSpPr/>
          <p:nvPr/>
        </p:nvSpPr>
        <p:spPr>
          <a:xfrm>
            <a:off x="9893808" y="2670048"/>
            <a:ext cx="1737360" cy="384048"/>
          </a:xfrm>
          <a:prstGeom prst="roundRect">
            <a:avLst>
              <a:gd name="adj" fmla="val 19048"/>
            </a:avLst>
          </a:prstGeom>
          <a:solidFill>
            <a:srgbClr val="0D1440"/>
          </a:solidFill>
          <a:ln w="12700">
            <a:solidFill>
              <a:srgbClr val="34458A"/>
            </a:solidFill>
            <a:prstDash val="solid"/>
          </a:ln>
        </p:spPr>
      </p:sp>
      <p:sp>
        <p:nvSpPr>
          <p:cNvPr id="43" name="Text 41"/>
          <p:cNvSpPr txBox="1"/>
          <p:nvPr/>
        </p:nvSpPr>
        <p:spPr>
          <a:xfrm>
            <a:off x="9939528" y="26700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analytics</a:t>
            </a:r>
            <a:endParaRPr lang="en-US" sz="1200" dirty="0"/>
          </a:p>
        </p:txBody>
      </p:sp>
      <p:sp>
        <p:nvSpPr>
          <p:cNvPr id="44" name="Shape 42"/>
          <p:cNvSpPr/>
          <p:nvPr/>
        </p:nvSpPr>
        <p:spPr>
          <a:xfrm>
            <a:off x="2468880" y="3127248"/>
            <a:ext cx="1737360" cy="384048"/>
          </a:xfrm>
          <a:prstGeom prst="roundRect">
            <a:avLst>
              <a:gd name="adj" fmla="val 19048"/>
            </a:avLst>
          </a:prstGeom>
          <a:solidFill>
            <a:srgbClr val="0D1440"/>
          </a:solidFill>
          <a:ln w="12700">
            <a:solidFill>
              <a:srgbClr val="34458A"/>
            </a:solidFill>
            <a:prstDash val="solid"/>
          </a:ln>
        </p:spPr>
      </p:sp>
      <p:sp>
        <p:nvSpPr>
          <p:cNvPr id="45" name="Text 43"/>
          <p:cNvSpPr txBox="1"/>
          <p:nvPr/>
        </p:nvSpPr>
        <p:spPr>
          <a:xfrm>
            <a:off x="2514600" y="31272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ml_engine</a:t>
            </a:r>
            <a:endParaRPr lang="en-US" sz="1200" dirty="0"/>
          </a:p>
        </p:txBody>
      </p:sp>
      <p:sp>
        <p:nvSpPr>
          <p:cNvPr id="46" name="Shape 44"/>
          <p:cNvSpPr/>
          <p:nvPr/>
        </p:nvSpPr>
        <p:spPr>
          <a:xfrm>
            <a:off x="4325112" y="3127248"/>
            <a:ext cx="1737360" cy="384048"/>
          </a:xfrm>
          <a:prstGeom prst="roundRect">
            <a:avLst>
              <a:gd name="adj" fmla="val 19048"/>
            </a:avLst>
          </a:prstGeom>
          <a:solidFill>
            <a:srgbClr val="0D1440"/>
          </a:solidFill>
          <a:ln w="12700">
            <a:solidFill>
              <a:srgbClr val="34458A"/>
            </a:solidFill>
            <a:prstDash val="solid"/>
          </a:ln>
        </p:spPr>
      </p:sp>
      <p:sp>
        <p:nvSpPr>
          <p:cNvPr id="47" name="Text 45"/>
          <p:cNvSpPr txBox="1"/>
          <p:nvPr/>
        </p:nvSpPr>
        <p:spPr>
          <a:xfrm>
            <a:off x="4370832" y="31272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insights</a:t>
            </a:r>
            <a:endParaRPr lang="en-US" sz="1200" dirty="0"/>
          </a:p>
        </p:txBody>
      </p:sp>
      <p:sp>
        <p:nvSpPr>
          <p:cNvPr id="48" name="Shape 46"/>
          <p:cNvSpPr/>
          <p:nvPr/>
        </p:nvSpPr>
        <p:spPr>
          <a:xfrm>
            <a:off x="6181344" y="3127248"/>
            <a:ext cx="1737360" cy="384048"/>
          </a:xfrm>
          <a:prstGeom prst="roundRect">
            <a:avLst>
              <a:gd name="adj" fmla="val 19048"/>
            </a:avLst>
          </a:prstGeom>
          <a:solidFill>
            <a:srgbClr val="0D1440"/>
          </a:solidFill>
          <a:ln w="12700">
            <a:solidFill>
              <a:srgbClr val="34458A"/>
            </a:solidFill>
            <a:prstDash val="solid"/>
          </a:ln>
        </p:spPr>
      </p:sp>
      <p:sp>
        <p:nvSpPr>
          <p:cNvPr id="49" name="Text 47"/>
          <p:cNvSpPr txBox="1"/>
          <p:nvPr/>
        </p:nvSpPr>
        <p:spPr>
          <a:xfrm>
            <a:off x="6227064" y="31272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savings</a:t>
            </a:r>
            <a:endParaRPr lang="en-US" sz="1200" dirty="0"/>
          </a:p>
        </p:txBody>
      </p:sp>
      <p:sp>
        <p:nvSpPr>
          <p:cNvPr id="50" name="Shape 48"/>
          <p:cNvSpPr/>
          <p:nvPr/>
        </p:nvSpPr>
        <p:spPr>
          <a:xfrm>
            <a:off x="8037576" y="3127248"/>
            <a:ext cx="1737360" cy="384048"/>
          </a:xfrm>
          <a:prstGeom prst="roundRect">
            <a:avLst>
              <a:gd name="adj" fmla="val 19048"/>
            </a:avLst>
          </a:prstGeom>
          <a:solidFill>
            <a:srgbClr val="0D1440"/>
          </a:solidFill>
          <a:ln w="12700">
            <a:solidFill>
              <a:srgbClr val="34458A"/>
            </a:solidFill>
            <a:prstDash val="solid"/>
          </a:ln>
        </p:spPr>
      </p:sp>
      <p:sp>
        <p:nvSpPr>
          <p:cNvPr id="51" name="Text 49"/>
          <p:cNvSpPr txBox="1"/>
          <p:nvPr/>
        </p:nvSpPr>
        <p:spPr>
          <a:xfrm>
            <a:off x="8083296" y="31272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import_export</a:t>
            </a:r>
            <a:endParaRPr lang="en-US" sz="1200" dirty="0"/>
          </a:p>
        </p:txBody>
      </p:sp>
      <p:sp>
        <p:nvSpPr>
          <p:cNvPr id="52" name="Shape 50"/>
          <p:cNvSpPr/>
          <p:nvPr/>
        </p:nvSpPr>
        <p:spPr>
          <a:xfrm>
            <a:off x="9893808" y="3127248"/>
            <a:ext cx="1737360" cy="384048"/>
          </a:xfrm>
          <a:prstGeom prst="roundRect">
            <a:avLst>
              <a:gd name="adj" fmla="val 19048"/>
            </a:avLst>
          </a:prstGeom>
          <a:solidFill>
            <a:srgbClr val="0D1440"/>
          </a:solidFill>
          <a:ln w="12700">
            <a:solidFill>
              <a:srgbClr val="34458A"/>
            </a:solidFill>
            <a:prstDash val="solid"/>
          </a:ln>
        </p:spPr>
      </p:sp>
      <p:sp>
        <p:nvSpPr>
          <p:cNvPr id="53" name="Text 51"/>
          <p:cNvSpPr txBox="1"/>
          <p:nvPr/>
        </p:nvSpPr>
        <p:spPr>
          <a:xfrm>
            <a:off x="9939528" y="3127248"/>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settings</a:t>
            </a:r>
            <a:endParaRPr lang="en-US" sz="1200" dirty="0"/>
          </a:p>
        </p:txBody>
      </p:sp>
      <p:sp>
        <p:nvSpPr>
          <p:cNvPr id="54" name="Shape 52"/>
          <p:cNvSpPr/>
          <p:nvPr/>
        </p:nvSpPr>
        <p:spPr>
          <a:xfrm>
            <a:off x="457200" y="3794760"/>
            <a:ext cx="11274552" cy="868680"/>
          </a:xfrm>
          <a:prstGeom prst="roundRect">
            <a:avLst>
              <a:gd name="adj" fmla="val 10526"/>
            </a:avLst>
          </a:prstGeom>
          <a:solidFill>
            <a:srgbClr val="151D4D"/>
          </a:solidFill>
          <a:ln w="12700">
            <a:solidFill>
              <a:srgbClr val="34458A"/>
            </a:solidFill>
            <a:prstDash val="solid"/>
          </a:ln>
        </p:spPr>
      </p:sp>
      <p:sp>
        <p:nvSpPr>
          <p:cNvPr id="55" name="Text 53"/>
          <p:cNvSpPr txBox="1"/>
          <p:nvPr/>
        </p:nvSpPr>
        <p:spPr>
          <a:xfrm>
            <a:off x="685800" y="3931920"/>
            <a:ext cx="1737360" cy="274320"/>
          </a:xfrm>
          <a:prstGeom prst="rect">
            <a:avLst/>
          </a:prstGeom>
          <a:noFill/>
          <a:ln/>
        </p:spPr>
        <p:txBody>
          <a:bodyPr wrap="square" lIns="0" tIns="0" rIns="0" bIns="0" rtlCol="0" anchor="t"/>
          <a:lstStyle/>
          <a:p>
            <a:pPr indent="0" marL="0">
              <a:buNone/>
            </a:pPr>
            <a:r>
              <a:rPr lang="en-US" sz="1200" b="1" dirty="0">
                <a:solidFill>
                  <a:srgbClr val="10B981"/>
                </a:solidFill>
                <a:latin typeface="Calibri" pitchFamily="34" charset="0"/>
                <a:ea typeface="Calibri" pitchFamily="34" charset="-122"/>
                <a:cs typeface="Calibri" pitchFamily="34" charset="-120"/>
              </a:rPr>
              <a:t>DATA ACCESS</a:t>
            </a:r>
            <a:endParaRPr lang="en-US" sz="1200" dirty="0"/>
          </a:p>
        </p:txBody>
      </p:sp>
      <p:sp>
        <p:nvSpPr>
          <p:cNvPr id="56" name="Text 54"/>
          <p:cNvSpPr txBox="1"/>
          <p:nvPr/>
        </p:nvSpPr>
        <p:spPr>
          <a:xfrm>
            <a:off x="685800" y="4206240"/>
            <a:ext cx="173736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database/db.py</a:t>
            </a:r>
            <a:endParaRPr lang="en-US" sz="1100" dirty="0"/>
          </a:p>
        </p:txBody>
      </p:sp>
      <p:sp>
        <p:nvSpPr>
          <p:cNvPr id="57" name="Shape 55"/>
          <p:cNvSpPr/>
          <p:nvPr/>
        </p:nvSpPr>
        <p:spPr>
          <a:xfrm>
            <a:off x="2468880" y="4023360"/>
            <a:ext cx="1737360" cy="411480"/>
          </a:xfrm>
          <a:prstGeom prst="roundRect">
            <a:avLst>
              <a:gd name="adj" fmla="val 17778"/>
            </a:avLst>
          </a:prstGeom>
          <a:solidFill>
            <a:srgbClr val="0D1440"/>
          </a:solidFill>
          <a:ln w="12700">
            <a:solidFill>
              <a:srgbClr val="34458A"/>
            </a:solidFill>
            <a:prstDash val="solid"/>
          </a:ln>
        </p:spPr>
      </p:sp>
      <p:sp>
        <p:nvSpPr>
          <p:cNvPr id="58" name="Text 56"/>
          <p:cNvSpPr txBox="1"/>
          <p:nvPr/>
        </p:nvSpPr>
        <p:spPr>
          <a:xfrm>
            <a:off x="2514600" y="4023360"/>
            <a:ext cx="1645920" cy="41148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get_connection()</a:t>
            </a:r>
            <a:endParaRPr lang="en-US" sz="1100" dirty="0"/>
          </a:p>
        </p:txBody>
      </p:sp>
      <p:sp>
        <p:nvSpPr>
          <p:cNvPr id="59" name="Shape 57"/>
          <p:cNvSpPr/>
          <p:nvPr/>
        </p:nvSpPr>
        <p:spPr>
          <a:xfrm>
            <a:off x="4325112" y="4023360"/>
            <a:ext cx="1737360" cy="411480"/>
          </a:xfrm>
          <a:prstGeom prst="roundRect">
            <a:avLst>
              <a:gd name="adj" fmla="val 17778"/>
            </a:avLst>
          </a:prstGeom>
          <a:solidFill>
            <a:srgbClr val="0D1440"/>
          </a:solidFill>
          <a:ln w="12700">
            <a:solidFill>
              <a:srgbClr val="34458A"/>
            </a:solidFill>
            <a:prstDash val="solid"/>
          </a:ln>
        </p:spPr>
      </p:sp>
      <p:sp>
        <p:nvSpPr>
          <p:cNvPr id="60" name="Text 58"/>
          <p:cNvSpPr txBox="1"/>
          <p:nvPr/>
        </p:nvSpPr>
        <p:spPr>
          <a:xfrm>
            <a:off x="4370832" y="4023360"/>
            <a:ext cx="1645920" cy="41148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init_db()</a:t>
            </a:r>
            <a:endParaRPr lang="en-US" sz="1100" dirty="0"/>
          </a:p>
        </p:txBody>
      </p:sp>
      <p:sp>
        <p:nvSpPr>
          <p:cNvPr id="61" name="Shape 59"/>
          <p:cNvSpPr/>
          <p:nvPr/>
        </p:nvSpPr>
        <p:spPr>
          <a:xfrm>
            <a:off x="6181344" y="4023360"/>
            <a:ext cx="1737360" cy="411480"/>
          </a:xfrm>
          <a:prstGeom prst="roundRect">
            <a:avLst>
              <a:gd name="adj" fmla="val 17778"/>
            </a:avLst>
          </a:prstGeom>
          <a:solidFill>
            <a:srgbClr val="0D1440"/>
          </a:solidFill>
          <a:ln w="12700">
            <a:solidFill>
              <a:srgbClr val="34458A"/>
            </a:solidFill>
            <a:prstDash val="solid"/>
          </a:ln>
        </p:spPr>
      </p:sp>
      <p:sp>
        <p:nvSpPr>
          <p:cNvPr id="62" name="Text 60"/>
          <p:cNvSpPr txBox="1"/>
          <p:nvPr/>
        </p:nvSpPr>
        <p:spPr>
          <a:xfrm>
            <a:off x="6227064" y="4023360"/>
            <a:ext cx="1645920" cy="41148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seed_demo_data()</a:t>
            </a:r>
            <a:endParaRPr lang="en-US" sz="1100" dirty="0"/>
          </a:p>
        </p:txBody>
      </p:sp>
      <p:sp>
        <p:nvSpPr>
          <p:cNvPr id="63" name="Shape 61"/>
          <p:cNvSpPr/>
          <p:nvPr/>
        </p:nvSpPr>
        <p:spPr>
          <a:xfrm>
            <a:off x="8037576" y="4023360"/>
            <a:ext cx="1737360" cy="411480"/>
          </a:xfrm>
          <a:prstGeom prst="roundRect">
            <a:avLst>
              <a:gd name="adj" fmla="val 17778"/>
            </a:avLst>
          </a:prstGeom>
          <a:solidFill>
            <a:srgbClr val="0D1440"/>
          </a:solidFill>
          <a:ln w="12700">
            <a:solidFill>
              <a:srgbClr val="34458A"/>
            </a:solidFill>
            <a:prstDash val="solid"/>
          </a:ln>
        </p:spPr>
      </p:sp>
      <p:sp>
        <p:nvSpPr>
          <p:cNvPr id="64" name="Text 62"/>
          <p:cNvSpPr txBox="1"/>
          <p:nvPr/>
        </p:nvSpPr>
        <p:spPr>
          <a:xfrm>
            <a:off x="8083296" y="4023360"/>
            <a:ext cx="1645920" cy="41148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PgCursorWrapper</a:t>
            </a:r>
            <a:endParaRPr lang="en-US" sz="1100" dirty="0"/>
          </a:p>
        </p:txBody>
      </p:sp>
      <p:sp>
        <p:nvSpPr>
          <p:cNvPr id="65" name="Shape 63"/>
          <p:cNvSpPr/>
          <p:nvPr/>
        </p:nvSpPr>
        <p:spPr>
          <a:xfrm>
            <a:off x="9893808" y="4023360"/>
            <a:ext cx="1737360" cy="411480"/>
          </a:xfrm>
          <a:prstGeom prst="roundRect">
            <a:avLst>
              <a:gd name="adj" fmla="val 17778"/>
            </a:avLst>
          </a:prstGeom>
          <a:solidFill>
            <a:srgbClr val="0D1440"/>
          </a:solidFill>
          <a:ln w="12700">
            <a:solidFill>
              <a:srgbClr val="34458A"/>
            </a:solidFill>
            <a:prstDash val="solid"/>
          </a:ln>
        </p:spPr>
      </p:sp>
      <p:sp>
        <p:nvSpPr>
          <p:cNvPr id="66" name="Text 64"/>
          <p:cNvSpPr txBox="1"/>
          <p:nvPr/>
        </p:nvSpPr>
        <p:spPr>
          <a:xfrm>
            <a:off x="9939528" y="4023360"/>
            <a:ext cx="1645920" cy="41148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PgConnectionWrapper</a:t>
            </a:r>
            <a:endParaRPr lang="en-US" sz="1100" dirty="0"/>
          </a:p>
        </p:txBody>
      </p:sp>
      <p:sp>
        <p:nvSpPr>
          <p:cNvPr id="67" name="Shape 65"/>
          <p:cNvSpPr/>
          <p:nvPr/>
        </p:nvSpPr>
        <p:spPr>
          <a:xfrm>
            <a:off x="457200" y="4800600"/>
            <a:ext cx="11274552" cy="1417320"/>
          </a:xfrm>
          <a:prstGeom prst="roundRect">
            <a:avLst>
              <a:gd name="adj" fmla="val 6452"/>
            </a:avLst>
          </a:prstGeom>
          <a:solidFill>
            <a:srgbClr val="151D4D"/>
          </a:solidFill>
          <a:ln w="12700">
            <a:solidFill>
              <a:srgbClr val="34458A"/>
            </a:solidFill>
            <a:prstDash val="solid"/>
          </a:ln>
        </p:spPr>
      </p:sp>
      <p:sp>
        <p:nvSpPr>
          <p:cNvPr id="68" name="Text 66"/>
          <p:cNvSpPr txBox="1"/>
          <p:nvPr/>
        </p:nvSpPr>
        <p:spPr>
          <a:xfrm>
            <a:off x="685800" y="4937760"/>
            <a:ext cx="1737360" cy="274320"/>
          </a:xfrm>
          <a:prstGeom prst="rect">
            <a:avLst/>
          </a:prstGeom>
          <a:noFill/>
          <a:ln/>
        </p:spPr>
        <p:txBody>
          <a:bodyPr wrap="square" lIns="0" tIns="0" rIns="0" bIns="0"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STORAGE</a:t>
            </a:r>
            <a:endParaRPr lang="en-US" sz="1200" dirty="0"/>
          </a:p>
        </p:txBody>
      </p:sp>
      <p:sp>
        <p:nvSpPr>
          <p:cNvPr id="69" name="Text 67"/>
          <p:cNvSpPr txBox="1"/>
          <p:nvPr/>
        </p:nvSpPr>
        <p:spPr>
          <a:xfrm>
            <a:off x="685800" y="5212080"/>
            <a:ext cx="1737360" cy="9601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Primary and fallback engines</a:t>
            </a:r>
            <a:endParaRPr lang="en-US" sz="1100" dirty="0"/>
          </a:p>
        </p:txBody>
      </p:sp>
      <p:sp>
        <p:nvSpPr>
          <p:cNvPr id="70" name="Shape 68"/>
          <p:cNvSpPr/>
          <p:nvPr/>
        </p:nvSpPr>
        <p:spPr>
          <a:xfrm>
            <a:off x="2468880" y="4937760"/>
            <a:ext cx="3657600" cy="1143000"/>
          </a:xfrm>
          <a:prstGeom prst="roundRect">
            <a:avLst>
              <a:gd name="adj" fmla="val 8000"/>
            </a:avLst>
          </a:prstGeom>
          <a:solidFill>
            <a:srgbClr val="0B3B33"/>
          </a:solidFill>
          <a:ln w="15875">
            <a:solidFill>
              <a:srgbClr val="10B981"/>
            </a:solidFill>
            <a:prstDash val="solid"/>
          </a:ln>
        </p:spPr>
      </p:sp>
      <p:sp>
        <p:nvSpPr>
          <p:cNvPr id="71" name="Text 69"/>
          <p:cNvSpPr txBox="1"/>
          <p:nvPr/>
        </p:nvSpPr>
        <p:spPr>
          <a:xfrm>
            <a:off x="2468880" y="5074920"/>
            <a:ext cx="36576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Supabase PostgreSQL 15+</a:t>
            </a:r>
            <a:endParaRPr lang="en-US" sz="1500" dirty="0"/>
          </a:p>
        </p:txBody>
      </p:sp>
      <p:sp>
        <p:nvSpPr>
          <p:cNvPr id="72" name="Text 70"/>
          <p:cNvSpPr txBox="1"/>
          <p:nvPr/>
        </p:nvSpPr>
        <p:spPr>
          <a:xfrm>
            <a:off x="2468880" y="5468112"/>
            <a:ext cx="3657600" cy="274320"/>
          </a:xfrm>
          <a:prstGeom prst="rect">
            <a:avLst/>
          </a:prstGeom>
          <a:noFill/>
          <a:ln/>
        </p:spPr>
        <p:txBody>
          <a:bodyPr wrap="square" lIns="0" tIns="0" rIns="0" bIns="0" rtlCol="0" anchor="t"/>
          <a:lstStyle/>
          <a:p>
            <a:pPr algn="ctr" indent="0" marL="0">
              <a:buNone/>
            </a:pPr>
            <a:r>
              <a:rPr lang="en-US" sz="1200" dirty="0">
                <a:solidFill>
                  <a:srgbClr val="E2E8F0"/>
                </a:solidFill>
                <a:latin typeface="Calibri" pitchFamily="34" charset="0"/>
                <a:ea typeface="Calibri" pitchFamily="34" charset="-122"/>
                <a:cs typeface="Calibri" pitchFamily="34" charset="-120"/>
              </a:rPr>
              <a:t>Cloud primary, pooler on port 6543</a:t>
            </a:r>
            <a:endParaRPr lang="en-US" sz="1200" dirty="0"/>
          </a:p>
        </p:txBody>
      </p:sp>
      <p:sp>
        <p:nvSpPr>
          <p:cNvPr id="73" name="Shape 71"/>
          <p:cNvSpPr/>
          <p:nvPr/>
        </p:nvSpPr>
        <p:spPr>
          <a:xfrm>
            <a:off x="7955280" y="4937760"/>
            <a:ext cx="3657600" cy="1143000"/>
          </a:xfrm>
          <a:prstGeom prst="roundRect">
            <a:avLst>
              <a:gd name="adj" fmla="val 8000"/>
            </a:avLst>
          </a:prstGeom>
          <a:solidFill>
            <a:srgbClr val="3D2A08"/>
          </a:solidFill>
          <a:ln w="15875">
            <a:solidFill>
              <a:srgbClr val="F59E0B"/>
            </a:solidFill>
            <a:prstDash val="solid"/>
          </a:ln>
        </p:spPr>
      </p:sp>
      <p:sp>
        <p:nvSpPr>
          <p:cNvPr id="74" name="Text 72"/>
          <p:cNvSpPr txBox="1"/>
          <p:nvPr/>
        </p:nvSpPr>
        <p:spPr>
          <a:xfrm>
            <a:off x="7955280" y="5074920"/>
            <a:ext cx="365760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SQLite 3 (WAL mode)</a:t>
            </a:r>
            <a:endParaRPr lang="en-US" sz="1500" dirty="0"/>
          </a:p>
        </p:txBody>
      </p:sp>
      <p:sp>
        <p:nvSpPr>
          <p:cNvPr id="75" name="Text 73"/>
          <p:cNvSpPr txBox="1"/>
          <p:nvPr/>
        </p:nvSpPr>
        <p:spPr>
          <a:xfrm>
            <a:off x="7955280" y="5468112"/>
            <a:ext cx="3657600" cy="274320"/>
          </a:xfrm>
          <a:prstGeom prst="rect">
            <a:avLst/>
          </a:prstGeom>
          <a:noFill/>
          <a:ln/>
        </p:spPr>
        <p:txBody>
          <a:bodyPr wrap="square" lIns="0" tIns="0" rIns="0" bIns="0" rtlCol="0" anchor="t"/>
          <a:lstStyle/>
          <a:p>
            <a:pPr algn="ctr" indent="0" marL="0">
              <a:buNone/>
            </a:pPr>
            <a:r>
              <a:rPr lang="en-US" sz="1200" dirty="0">
                <a:solidFill>
                  <a:srgbClr val="E2E8F0"/>
                </a:solidFill>
                <a:latin typeface="Calibri" pitchFamily="34" charset="0"/>
                <a:ea typeface="Calibri" pitchFamily="34" charset="-122"/>
                <a:cs typeface="Calibri" pitchFamily="34" charset="-120"/>
              </a:rPr>
              <a:t>Local fallback, zero config</a:t>
            </a:r>
            <a:endParaRPr lang="en-US" sz="1200" dirty="0"/>
          </a:p>
        </p:txBody>
      </p:sp>
      <p:sp>
        <p:nvSpPr>
          <p:cNvPr id="76" name="Shape 74"/>
          <p:cNvSpPr/>
          <p:nvPr/>
        </p:nvSpPr>
        <p:spPr>
          <a:xfrm>
            <a:off x="6217920" y="5504688"/>
            <a:ext cx="1645920" cy="0"/>
          </a:xfrm>
          <a:prstGeom prst="line">
            <a:avLst/>
          </a:prstGeom>
          <a:noFill/>
          <a:ln w="28575">
            <a:solidFill>
              <a:srgbClr val="38BDF8"/>
            </a:solidFill>
            <a:prstDash val="dash"/>
            <a:tailEnd type="triangle"/>
          </a:ln>
        </p:spPr>
      </p:sp>
      <p:sp>
        <p:nvSpPr>
          <p:cNvPr id="77" name="Text 75"/>
          <p:cNvSpPr txBox="1"/>
          <p:nvPr/>
        </p:nvSpPr>
        <p:spPr>
          <a:xfrm>
            <a:off x="6217920" y="5212080"/>
            <a:ext cx="1645920" cy="228600"/>
          </a:xfrm>
          <a:prstGeom prst="rect">
            <a:avLst/>
          </a:prstGeom>
          <a:noFill/>
          <a:ln/>
        </p:spPr>
        <p:txBody>
          <a:bodyPr wrap="square" lIns="0" tIns="0" rIns="0" bIns="0" rtlCol="0" anchor="t"/>
          <a:lstStyle/>
          <a:p>
            <a:pPr algn="ctr" indent="0" marL="0">
              <a:buNone/>
            </a:pPr>
            <a:r>
              <a:rPr lang="en-US" sz="1100" b="1" dirty="0">
                <a:solidFill>
                  <a:srgbClr val="38BDF8"/>
                </a:solidFill>
                <a:latin typeface="Calibri" pitchFamily="34" charset="0"/>
                <a:ea typeface="Calibri" pitchFamily="34" charset="-122"/>
                <a:cs typeface="Calibri" pitchFamily="34" charset="-120"/>
              </a:rPr>
              <a:t>auto-failover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Verified Technology Stack</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07040" y="6473952"/>
            <a:ext cx="128016" cy="128016"/>
          </a:xfrm>
          <a:prstGeom prst="ellipse">
            <a:avLst/>
          </a:prstGeom>
          <a:solidFill>
            <a:srgbClr val="38BDF8"/>
          </a:solidFill>
          <a:ln w="12700">
            <a:solidFill>
              <a:srgbClr val="38BDF8"/>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80160"/>
            <a:ext cx="3337560" cy="1508760"/>
          </a:xfrm>
          <a:prstGeom prst="roundRect">
            <a:avLst>
              <a:gd name="adj" fmla="val 6061"/>
            </a:avLst>
          </a:prstGeom>
          <a:solidFill>
            <a:srgbClr val="151D4D"/>
          </a:solidFill>
          <a:ln w="12700">
            <a:solidFill>
              <a:srgbClr val="34458A"/>
            </a:solidFill>
            <a:prstDash val="solid"/>
          </a:ln>
        </p:spPr>
      </p:sp>
      <p:sp>
        <p:nvSpPr>
          <p:cNvPr id="19" name="Shape 17"/>
          <p:cNvSpPr/>
          <p:nvPr/>
        </p:nvSpPr>
        <p:spPr>
          <a:xfrm>
            <a:off x="685800" y="1508760"/>
            <a:ext cx="548640" cy="548640"/>
          </a:xfrm>
          <a:prstGeom prst="ellipse">
            <a:avLst/>
          </a:prstGeom>
          <a:solidFill>
            <a:srgbClr val="4169E1"/>
          </a:solidFill>
          <a:ln w="12700">
            <a:solidFill>
              <a:srgbClr val="4169E1"/>
            </a:solidFill>
            <a:prstDash val="solid"/>
          </a:ln>
        </p:spPr>
      </p:sp>
      <p:pic>
        <p:nvPicPr>
          <p:cNvPr id="20" name="Image 0" descr="preencoded.png">    </p:cNvPr>
          <p:cNvPicPr>
            <a:picLocks noChangeAspect="1"/>
          </p:cNvPicPr>
          <p:nvPr/>
        </p:nvPicPr>
        <p:blipFill>
          <a:blip r:embed="rId1"/>
          <a:stretch>
            <a:fillRect/>
          </a:stretch>
        </p:blipFill>
        <p:spPr>
          <a:xfrm>
            <a:off x="822960" y="1645920"/>
            <a:ext cx="274320" cy="274320"/>
          </a:xfrm>
          <a:prstGeom prst="rect">
            <a:avLst/>
          </a:prstGeom>
        </p:spPr>
      </p:pic>
      <p:sp>
        <p:nvSpPr>
          <p:cNvPr id="21" name="Text 18"/>
          <p:cNvSpPr txBox="1"/>
          <p:nvPr/>
        </p:nvSpPr>
        <p:spPr>
          <a:xfrm>
            <a:off x="1371600" y="148132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Streamlit</a:t>
            </a:r>
            <a:endParaRPr lang="en-US" sz="1400" dirty="0"/>
          </a:p>
        </p:txBody>
      </p:sp>
      <p:sp>
        <p:nvSpPr>
          <p:cNvPr id="22" name="Text 19"/>
          <p:cNvSpPr txBox="1"/>
          <p:nvPr/>
        </p:nvSpPr>
        <p:spPr>
          <a:xfrm>
            <a:off x="1371600" y="182880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v1.63.0</a:t>
            </a:r>
            <a:endParaRPr lang="en-US" sz="1200" dirty="0"/>
          </a:p>
        </p:txBody>
      </p:sp>
      <p:sp>
        <p:nvSpPr>
          <p:cNvPr id="23" name="Text 20"/>
          <p:cNvSpPr txBox="1"/>
          <p:nvPr/>
        </p:nvSpPr>
        <p:spPr>
          <a:xfrm>
            <a:off x="685800" y="224028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App framework, UI, routing</a:t>
            </a:r>
            <a:endParaRPr lang="en-US" sz="1200" dirty="0"/>
          </a:p>
        </p:txBody>
      </p:sp>
      <p:sp>
        <p:nvSpPr>
          <p:cNvPr id="24" name="Shape 21"/>
          <p:cNvSpPr/>
          <p:nvPr/>
        </p:nvSpPr>
        <p:spPr>
          <a:xfrm>
            <a:off x="4069080" y="1280160"/>
            <a:ext cx="3337560" cy="1508760"/>
          </a:xfrm>
          <a:prstGeom prst="roundRect">
            <a:avLst>
              <a:gd name="adj" fmla="val 6061"/>
            </a:avLst>
          </a:prstGeom>
          <a:solidFill>
            <a:srgbClr val="151D4D"/>
          </a:solidFill>
          <a:ln w="12700">
            <a:solidFill>
              <a:srgbClr val="34458A"/>
            </a:solidFill>
            <a:prstDash val="solid"/>
          </a:ln>
        </p:spPr>
      </p:sp>
      <p:sp>
        <p:nvSpPr>
          <p:cNvPr id="25" name="Shape 22"/>
          <p:cNvSpPr/>
          <p:nvPr/>
        </p:nvSpPr>
        <p:spPr>
          <a:xfrm>
            <a:off x="4297680" y="1508760"/>
            <a:ext cx="548640" cy="548640"/>
          </a:xfrm>
          <a:prstGeom prst="ellipse">
            <a:avLst/>
          </a:prstGeom>
          <a:solidFill>
            <a:srgbClr val="38BDF8"/>
          </a:solidFill>
          <a:ln w="12700">
            <a:solidFill>
              <a:srgbClr val="38BDF8"/>
            </a:solidFill>
            <a:prstDash val="solid"/>
          </a:ln>
        </p:spPr>
      </p:sp>
      <p:pic>
        <p:nvPicPr>
          <p:cNvPr id="26" name="Image 1" descr="preencoded.png">    </p:cNvPr>
          <p:cNvPicPr>
            <a:picLocks noChangeAspect="1"/>
          </p:cNvPicPr>
          <p:nvPr/>
        </p:nvPicPr>
        <p:blipFill>
          <a:blip r:embed="rId2"/>
          <a:stretch>
            <a:fillRect/>
          </a:stretch>
        </p:blipFill>
        <p:spPr>
          <a:xfrm>
            <a:off x="4434840" y="1645920"/>
            <a:ext cx="274320" cy="274320"/>
          </a:xfrm>
          <a:prstGeom prst="rect">
            <a:avLst/>
          </a:prstGeom>
        </p:spPr>
      </p:pic>
      <p:sp>
        <p:nvSpPr>
          <p:cNvPr id="27" name="Text 23"/>
          <p:cNvSpPr txBox="1"/>
          <p:nvPr/>
        </p:nvSpPr>
        <p:spPr>
          <a:xfrm>
            <a:off x="4983480" y="148132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Pandas + NumPy</a:t>
            </a:r>
            <a:endParaRPr lang="en-US" sz="1400" dirty="0"/>
          </a:p>
        </p:txBody>
      </p:sp>
      <p:sp>
        <p:nvSpPr>
          <p:cNvPr id="28" name="Text 24"/>
          <p:cNvSpPr txBox="1"/>
          <p:nvPr/>
        </p:nvSpPr>
        <p:spPr>
          <a:xfrm>
            <a:off x="4983480" y="182880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v3.0.5 / v2.5.3</a:t>
            </a:r>
            <a:endParaRPr lang="en-US" sz="1200" dirty="0"/>
          </a:p>
        </p:txBody>
      </p:sp>
      <p:sp>
        <p:nvSpPr>
          <p:cNvPr id="29" name="Text 25"/>
          <p:cNvSpPr txBox="1"/>
          <p:nvPr/>
        </p:nvSpPr>
        <p:spPr>
          <a:xfrm>
            <a:off x="4297680" y="224028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Resampling and aggregation</a:t>
            </a:r>
            <a:endParaRPr lang="en-US" sz="1200" dirty="0"/>
          </a:p>
        </p:txBody>
      </p:sp>
      <p:sp>
        <p:nvSpPr>
          <p:cNvPr id="30" name="Shape 26"/>
          <p:cNvSpPr/>
          <p:nvPr/>
        </p:nvSpPr>
        <p:spPr>
          <a:xfrm>
            <a:off x="457200" y="2971800"/>
            <a:ext cx="3337560" cy="1508760"/>
          </a:xfrm>
          <a:prstGeom prst="roundRect">
            <a:avLst>
              <a:gd name="adj" fmla="val 6061"/>
            </a:avLst>
          </a:prstGeom>
          <a:solidFill>
            <a:srgbClr val="151D4D"/>
          </a:solidFill>
          <a:ln w="12700">
            <a:solidFill>
              <a:srgbClr val="34458A"/>
            </a:solidFill>
            <a:prstDash val="solid"/>
          </a:ln>
        </p:spPr>
      </p:sp>
      <p:sp>
        <p:nvSpPr>
          <p:cNvPr id="31" name="Shape 27"/>
          <p:cNvSpPr/>
          <p:nvPr/>
        </p:nvSpPr>
        <p:spPr>
          <a:xfrm>
            <a:off x="685800" y="3200400"/>
            <a:ext cx="548640" cy="548640"/>
          </a:xfrm>
          <a:prstGeom prst="ellipse">
            <a:avLst/>
          </a:prstGeom>
          <a:solidFill>
            <a:srgbClr val="C52DDB"/>
          </a:solidFill>
          <a:ln w="12700">
            <a:solidFill>
              <a:srgbClr val="C52DDB"/>
            </a:solidFill>
            <a:prstDash val="solid"/>
          </a:ln>
        </p:spPr>
      </p:sp>
      <p:pic>
        <p:nvPicPr>
          <p:cNvPr id="32" name="Image 2" descr="preencoded.png">    </p:cNvPr>
          <p:cNvPicPr>
            <a:picLocks noChangeAspect="1"/>
          </p:cNvPicPr>
          <p:nvPr/>
        </p:nvPicPr>
        <p:blipFill>
          <a:blip r:embed="rId3"/>
          <a:stretch>
            <a:fillRect/>
          </a:stretch>
        </p:blipFill>
        <p:spPr>
          <a:xfrm>
            <a:off x="822960" y="3337560"/>
            <a:ext cx="274320" cy="274320"/>
          </a:xfrm>
          <a:prstGeom prst="rect">
            <a:avLst/>
          </a:prstGeom>
        </p:spPr>
      </p:pic>
      <p:sp>
        <p:nvSpPr>
          <p:cNvPr id="33" name="Text 28"/>
          <p:cNvSpPr txBox="1"/>
          <p:nvPr/>
        </p:nvSpPr>
        <p:spPr>
          <a:xfrm>
            <a:off x="1371600" y="317296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Plotly</a:t>
            </a:r>
            <a:endParaRPr lang="en-US" sz="1400" dirty="0"/>
          </a:p>
        </p:txBody>
      </p:sp>
      <p:sp>
        <p:nvSpPr>
          <p:cNvPr id="34" name="Text 29"/>
          <p:cNvSpPr txBox="1"/>
          <p:nvPr/>
        </p:nvSpPr>
        <p:spPr>
          <a:xfrm>
            <a:off x="1371600" y="352044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v7.0.0</a:t>
            </a:r>
            <a:endParaRPr lang="en-US" sz="1200" dirty="0"/>
          </a:p>
        </p:txBody>
      </p:sp>
      <p:sp>
        <p:nvSpPr>
          <p:cNvPr id="35" name="Text 30"/>
          <p:cNvSpPr txBox="1"/>
          <p:nvPr/>
        </p:nvSpPr>
        <p:spPr>
          <a:xfrm>
            <a:off x="685800" y="393192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7 interactive chart types</a:t>
            </a:r>
            <a:endParaRPr lang="en-US" sz="1200" dirty="0"/>
          </a:p>
        </p:txBody>
      </p:sp>
      <p:sp>
        <p:nvSpPr>
          <p:cNvPr id="36" name="Shape 31"/>
          <p:cNvSpPr/>
          <p:nvPr/>
        </p:nvSpPr>
        <p:spPr>
          <a:xfrm>
            <a:off x="4069080" y="2971800"/>
            <a:ext cx="3337560" cy="1508760"/>
          </a:xfrm>
          <a:prstGeom prst="roundRect">
            <a:avLst>
              <a:gd name="adj" fmla="val 6061"/>
            </a:avLst>
          </a:prstGeom>
          <a:solidFill>
            <a:srgbClr val="151D4D"/>
          </a:solidFill>
          <a:ln w="12700">
            <a:solidFill>
              <a:srgbClr val="34458A"/>
            </a:solidFill>
            <a:prstDash val="solid"/>
          </a:ln>
        </p:spPr>
      </p:sp>
      <p:sp>
        <p:nvSpPr>
          <p:cNvPr id="37" name="Shape 32"/>
          <p:cNvSpPr/>
          <p:nvPr/>
        </p:nvSpPr>
        <p:spPr>
          <a:xfrm>
            <a:off x="4297680" y="3200400"/>
            <a:ext cx="548640" cy="548640"/>
          </a:xfrm>
          <a:prstGeom prst="ellipse">
            <a:avLst/>
          </a:prstGeom>
          <a:solidFill>
            <a:srgbClr val="F59E0B"/>
          </a:solidFill>
          <a:ln w="12700">
            <a:solidFill>
              <a:srgbClr val="F59E0B"/>
            </a:solidFill>
            <a:prstDash val="solid"/>
          </a:ln>
        </p:spPr>
      </p:sp>
      <p:pic>
        <p:nvPicPr>
          <p:cNvPr id="38" name="Image 3" descr="preencoded.png">    </p:cNvPr>
          <p:cNvPicPr>
            <a:picLocks noChangeAspect="1"/>
          </p:cNvPicPr>
          <p:nvPr/>
        </p:nvPicPr>
        <p:blipFill>
          <a:blip r:embed="rId4"/>
          <a:stretch>
            <a:fillRect/>
          </a:stretch>
        </p:blipFill>
        <p:spPr>
          <a:xfrm>
            <a:off x="4434840" y="3337560"/>
            <a:ext cx="274320" cy="274320"/>
          </a:xfrm>
          <a:prstGeom prst="rect">
            <a:avLst/>
          </a:prstGeom>
        </p:spPr>
      </p:pic>
      <p:sp>
        <p:nvSpPr>
          <p:cNvPr id="39" name="Text 33"/>
          <p:cNvSpPr txBox="1"/>
          <p:nvPr/>
        </p:nvSpPr>
        <p:spPr>
          <a:xfrm>
            <a:off x="4983480" y="317296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Scikit-Learn</a:t>
            </a:r>
            <a:endParaRPr lang="en-US" sz="1400" dirty="0"/>
          </a:p>
        </p:txBody>
      </p:sp>
      <p:sp>
        <p:nvSpPr>
          <p:cNvPr id="40" name="Text 34"/>
          <p:cNvSpPr txBox="1"/>
          <p:nvPr/>
        </p:nvSpPr>
        <p:spPr>
          <a:xfrm>
            <a:off x="4983480" y="352044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v1.9.1</a:t>
            </a:r>
            <a:endParaRPr lang="en-US" sz="1200" dirty="0"/>
          </a:p>
        </p:txBody>
      </p:sp>
      <p:sp>
        <p:nvSpPr>
          <p:cNvPr id="41" name="Text 35"/>
          <p:cNvSpPr txBox="1"/>
          <p:nvPr/>
        </p:nvSpPr>
        <p:spPr>
          <a:xfrm>
            <a:off x="4297680" y="393192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Regression and ML forecasting</a:t>
            </a:r>
            <a:endParaRPr lang="en-US" sz="1200" dirty="0"/>
          </a:p>
        </p:txBody>
      </p:sp>
      <p:sp>
        <p:nvSpPr>
          <p:cNvPr id="42" name="Shape 36"/>
          <p:cNvSpPr/>
          <p:nvPr/>
        </p:nvSpPr>
        <p:spPr>
          <a:xfrm>
            <a:off x="457200" y="4663440"/>
            <a:ext cx="3337560" cy="1508760"/>
          </a:xfrm>
          <a:prstGeom prst="roundRect">
            <a:avLst>
              <a:gd name="adj" fmla="val 6061"/>
            </a:avLst>
          </a:prstGeom>
          <a:solidFill>
            <a:srgbClr val="151D4D"/>
          </a:solidFill>
          <a:ln w="12700">
            <a:solidFill>
              <a:srgbClr val="34458A"/>
            </a:solidFill>
            <a:prstDash val="solid"/>
          </a:ln>
        </p:spPr>
      </p:sp>
      <p:sp>
        <p:nvSpPr>
          <p:cNvPr id="43" name="Shape 37"/>
          <p:cNvSpPr/>
          <p:nvPr/>
        </p:nvSpPr>
        <p:spPr>
          <a:xfrm>
            <a:off x="685800" y="4892040"/>
            <a:ext cx="548640" cy="548640"/>
          </a:xfrm>
          <a:prstGeom prst="ellipse">
            <a:avLst/>
          </a:prstGeom>
          <a:solidFill>
            <a:srgbClr val="10B981"/>
          </a:solidFill>
          <a:ln w="12700">
            <a:solidFill>
              <a:srgbClr val="10B981"/>
            </a:solidFill>
            <a:prstDash val="solid"/>
          </a:ln>
        </p:spPr>
      </p:sp>
      <p:pic>
        <p:nvPicPr>
          <p:cNvPr id="44" name="Image 4" descr="preencoded.png">    </p:cNvPr>
          <p:cNvPicPr>
            <a:picLocks noChangeAspect="1"/>
          </p:cNvPicPr>
          <p:nvPr/>
        </p:nvPicPr>
        <p:blipFill>
          <a:blip r:embed="rId5"/>
          <a:stretch>
            <a:fillRect/>
          </a:stretch>
        </p:blipFill>
        <p:spPr>
          <a:xfrm>
            <a:off x="822960" y="5029200"/>
            <a:ext cx="274320" cy="274320"/>
          </a:xfrm>
          <a:prstGeom prst="rect">
            <a:avLst/>
          </a:prstGeom>
        </p:spPr>
      </p:pic>
      <p:sp>
        <p:nvSpPr>
          <p:cNvPr id="45" name="Text 38"/>
          <p:cNvSpPr txBox="1"/>
          <p:nvPr/>
        </p:nvSpPr>
        <p:spPr>
          <a:xfrm>
            <a:off x="1371600" y="486460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PostgreSQL + SQLite</a:t>
            </a:r>
            <a:endParaRPr lang="en-US" sz="1400" dirty="0"/>
          </a:p>
        </p:txBody>
      </p:sp>
      <p:sp>
        <p:nvSpPr>
          <p:cNvPr id="46" name="Text 39"/>
          <p:cNvSpPr txBox="1"/>
          <p:nvPr/>
        </p:nvSpPr>
        <p:spPr>
          <a:xfrm>
            <a:off x="1371600" y="521208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Supabase 15+ / SQLite 3</a:t>
            </a:r>
            <a:endParaRPr lang="en-US" sz="1200" dirty="0"/>
          </a:p>
        </p:txBody>
      </p:sp>
      <p:sp>
        <p:nvSpPr>
          <p:cNvPr id="47" name="Text 40"/>
          <p:cNvSpPr txBox="1"/>
          <p:nvPr/>
        </p:nvSpPr>
        <p:spPr>
          <a:xfrm>
            <a:off x="685800" y="562356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Cloud and offline persistence</a:t>
            </a:r>
            <a:endParaRPr lang="en-US" sz="1200" dirty="0"/>
          </a:p>
        </p:txBody>
      </p:sp>
      <p:sp>
        <p:nvSpPr>
          <p:cNvPr id="48" name="Shape 41"/>
          <p:cNvSpPr/>
          <p:nvPr/>
        </p:nvSpPr>
        <p:spPr>
          <a:xfrm>
            <a:off x="4069080" y="4663440"/>
            <a:ext cx="3337560" cy="1508760"/>
          </a:xfrm>
          <a:prstGeom prst="roundRect">
            <a:avLst>
              <a:gd name="adj" fmla="val 6061"/>
            </a:avLst>
          </a:prstGeom>
          <a:solidFill>
            <a:srgbClr val="151D4D"/>
          </a:solidFill>
          <a:ln w="12700">
            <a:solidFill>
              <a:srgbClr val="34458A"/>
            </a:solidFill>
            <a:prstDash val="solid"/>
          </a:ln>
        </p:spPr>
      </p:sp>
      <p:sp>
        <p:nvSpPr>
          <p:cNvPr id="49" name="Shape 42"/>
          <p:cNvSpPr/>
          <p:nvPr/>
        </p:nvSpPr>
        <p:spPr>
          <a:xfrm>
            <a:off x="4297680" y="4892040"/>
            <a:ext cx="548640" cy="548640"/>
          </a:xfrm>
          <a:prstGeom prst="ellipse">
            <a:avLst/>
          </a:prstGeom>
          <a:solidFill>
            <a:srgbClr val="EF4444"/>
          </a:solidFill>
          <a:ln w="12700">
            <a:solidFill>
              <a:srgbClr val="EF4444"/>
            </a:solidFill>
            <a:prstDash val="solid"/>
          </a:ln>
        </p:spPr>
      </p:sp>
      <p:pic>
        <p:nvPicPr>
          <p:cNvPr id="50" name="Image 5" descr="preencoded.png">    </p:cNvPr>
          <p:cNvPicPr>
            <a:picLocks noChangeAspect="1"/>
          </p:cNvPicPr>
          <p:nvPr/>
        </p:nvPicPr>
        <p:blipFill>
          <a:blip r:embed="rId6"/>
          <a:stretch>
            <a:fillRect/>
          </a:stretch>
        </p:blipFill>
        <p:spPr>
          <a:xfrm>
            <a:off x="4434840" y="5029200"/>
            <a:ext cx="274320" cy="274320"/>
          </a:xfrm>
          <a:prstGeom prst="rect">
            <a:avLst/>
          </a:prstGeom>
        </p:spPr>
      </p:pic>
      <p:sp>
        <p:nvSpPr>
          <p:cNvPr id="51" name="Text 43"/>
          <p:cNvSpPr txBox="1"/>
          <p:nvPr/>
        </p:nvSpPr>
        <p:spPr>
          <a:xfrm>
            <a:off x="4983480" y="4864608"/>
            <a:ext cx="233172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FPDF2 + OpenPyXL</a:t>
            </a:r>
            <a:endParaRPr lang="en-US" sz="1400" dirty="0"/>
          </a:p>
        </p:txBody>
      </p:sp>
      <p:sp>
        <p:nvSpPr>
          <p:cNvPr id="52" name="Text 44"/>
          <p:cNvSpPr txBox="1"/>
          <p:nvPr/>
        </p:nvSpPr>
        <p:spPr>
          <a:xfrm>
            <a:off x="4983480" y="5212080"/>
            <a:ext cx="2331720" cy="27432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v2.8.8 / v3.1.5</a:t>
            </a:r>
            <a:endParaRPr lang="en-US" sz="1200" dirty="0"/>
          </a:p>
        </p:txBody>
      </p:sp>
      <p:sp>
        <p:nvSpPr>
          <p:cNvPr id="53" name="Text 45"/>
          <p:cNvSpPr txBox="1"/>
          <p:nvPr/>
        </p:nvSpPr>
        <p:spPr>
          <a:xfrm>
            <a:off x="4297680" y="5623560"/>
            <a:ext cx="2926080" cy="4114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Branded PDF, multi-sheet Excel</a:t>
            </a:r>
            <a:endParaRPr lang="en-US" sz="1200" dirty="0"/>
          </a:p>
        </p:txBody>
      </p:sp>
      <p:sp>
        <p:nvSpPr>
          <p:cNvPr id="54" name="Shape 46"/>
          <p:cNvSpPr/>
          <p:nvPr/>
        </p:nvSpPr>
        <p:spPr>
          <a:xfrm>
            <a:off x="7699248" y="1280160"/>
            <a:ext cx="4032504" cy="2629154"/>
          </a:xfrm>
          <a:prstGeom prst="roundRect">
            <a:avLst>
              <a:gd name="adj" fmla="val 3478"/>
            </a:avLst>
          </a:prstGeom>
          <a:solidFill>
            <a:srgbClr val="151D4D"/>
          </a:solidFill>
          <a:ln w="15875">
            <a:solidFill>
              <a:srgbClr val="4169E1"/>
            </a:solidFill>
            <a:prstDash val="solid"/>
          </a:ln>
        </p:spPr>
      </p:sp>
      <p:pic>
        <p:nvPicPr>
          <p:cNvPr id="55" name="Image 6" descr="/home/claude/deck/10_settings_preferences.jpg">    </p:cNvPr>
          <p:cNvPicPr>
            <a:picLocks noChangeAspect="1"/>
          </p:cNvPicPr>
          <p:nvPr/>
        </p:nvPicPr>
        <p:blipFill>
          <a:blip r:embed="rId7"/>
          <a:stretch>
            <a:fillRect/>
          </a:stretch>
        </p:blipFill>
        <p:spPr>
          <a:xfrm>
            <a:off x="7772400" y="1353312"/>
            <a:ext cx="3886200" cy="2482850"/>
          </a:xfrm>
          <a:prstGeom prst="rect">
            <a:avLst/>
          </a:prstGeom>
        </p:spPr>
      </p:pic>
      <p:sp>
        <p:nvSpPr>
          <p:cNvPr id="56" name="Shape 47"/>
          <p:cNvSpPr/>
          <p:nvPr/>
        </p:nvSpPr>
        <p:spPr>
          <a:xfrm>
            <a:off x="7699248" y="4023360"/>
            <a:ext cx="4032504" cy="2194560"/>
          </a:xfrm>
          <a:prstGeom prst="roundRect">
            <a:avLst>
              <a:gd name="adj" fmla="val 4167"/>
            </a:avLst>
          </a:prstGeom>
          <a:solidFill>
            <a:srgbClr val="151D4D"/>
          </a:solidFill>
          <a:ln w="12700">
            <a:solidFill>
              <a:srgbClr val="34458A"/>
            </a:solidFill>
            <a:prstDash val="solid"/>
          </a:ln>
        </p:spPr>
      </p:sp>
      <p:sp>
        <p:nvSpPr>
          <p:cNvPr id="57" name="Text 48"/>
          <p:cNvSpPr txBox="1"/>
          <p:nvPr/>
        </p:nvSpPr>
        <p:spPr>
          <a:xfrm>
            <a:off x="7909560" y="4133088"/>
            <a:ext cx="3657600" cy="228600"/>
          </a:xfrm>
          <a:prstGeom prst="rect">
            <a:avLst/>
          </a:prstGeom>
          <a:noFill/>
          <a:ln/>
        </p:spPr>
        <p:txBody>
          <a:bodyPr wrap="square" lIns="0" tIns="0" rIns="0" bIns="0" rtlCol="0" anchor="t"/>
          <a:lstStyle/>
          <a:p>
            <a:pPr indent="0" marL="0">
              <a:buNone/>
            </a:pPr>
            <a:r>
              <a:rPr lang="en-US" sz="1000" b="1" dirty="0">
                <a:solidFill>
                  <a:srgbClr val="38BDF8"/>
                </a:solidFill>
                <a:latin typeface="Calibri" pitchFamily="34" charset="0"/>
                <a:ea typeface="Calibri" pitchFamily="34" charset="-122"/>
                <a:cs typeface="Calibri" pitchFamily="34" charset="-120"/>
              </a:rPr>
              <a:t>SETTINGS &amp; PERSONALIZATION</a:t>
            </a:r>
            <a:endParaRPr lang="en-US" sz="1000" dirty="0"/>
          </a:p>
        </p:txBody>
      </p:sp>
      <p:sp>
        <p:nvSpPr>
          <p:cNvPr id="58" name="Text 49"/>
          <p:cNvSpPr txBox="1"/>
          <p:nvPr/>
        </p:nvSpPr>
        <p:spPr>
          <a:xfrm>
            <a:off x="7909560" y="4480560"/>
            <a:ext cx="3657600" cy="16459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7 currencies: USD EUR GBP INR JPY CAD AUD</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Dark Fintech and Light Modern themes</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Profile editing, demo re-seed, data reset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Transactions, Budgets &amp; Data Flow</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71632" y="6473952"/>
            <a:ext cx="128016" cy="128016"/>
          </a:xfrm>
          <a:prstGeom prst="ellipse">
            <a:avLst/>
          </a:prstGeom>
          <a:solidFill>
            <a:srgbClr val="38BDF8"/>
          </a:solidFill>
          <a:ln w="12700">
            <a:solidFill>
              <a:srgbClr val="38BDF8"/>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34440"/>
            <a:ext cx="5212080" cy="1920240"/>
          </a:xfrm>
          <a:prstGeom prst="roundRect">
            <a:avLst>
              <a:gd name="adj" fmla="val 4762"/>
            </a:avLst>
          </a:prstGeom>
          <a:solidFill>
            <a:srgbClr val="151D4D"/>
          </a:solidFill>
          <a:ln w="12700">
            <a:solidFill>
              <a:srgbClr val="34458A"/>
            </a:solidFill>
            <a:prstDash val="solid"/>
          </a:ln>
        </p:spPr>
      </p:sp>
      <p:sp>
        <p:nvSpPr>
          <p:cNvPr id="19" name="Text 17"/>
          <p:cNvSpPr txBox="1"/>
          <p:nvPr/>
        </p:nvSpPr>
        <p:spPr>
          <a:xfrm>
            <a:off x="685800" y="1344168"/>
            <a:ext cx="365760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3-TIER BUDGET ALERTS</a:t>
            </a:r>
            <a:endParaRPr lang="en-US" sz="1100" dirty="0"/>
          </a:p>
        </p:txBody>
      </p:sp>
      <p:sp>
        <p:nvSpPr>
          <p:cNvPr id="20" name="Text 18"/>
          <p:cNvSpPr txBox="1"/>
          <p:nvPr/>
        </p:nvSpPr>
        <p:spPr>
          <a:xfrm>
            <a:off x="685800" y="1719072"/>
            <a:ext cx="15544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Healthy  &lt;75%</a:t>
            </a:r>
            <a:endParaRPr lang="en-US" sz="1200" dirty="0"/>
          </a:p>
        </p:txBody>
      </p:sp>
      <p:sp>
        <p:nvSpPr>
          <p:cNvPr id="21" name="Shape 19"/>
          <p:cNvSpPr/>
          <p:nvPr/>
        </p:nvSpPr>
        <p:spPr>
          <a:xfrm>
            <a:off x="2286000" y="1746504"/>
            <a:ext cx="3154680" cy="237744"/>
          </a:xfrm>
          <a:prstGeom prst="roundRect">
            <a:avLst>
              <a:gd name="adj" fmla="val 19231"/>
            </a:avLst>
          </a:prstGeom>
          <a:solidFill>
            <a:srgbClr val="0D1440"/>
          </a:solidFill>
          <a:ln w="9525">
            <a:solidFill>
              <a:srgbClr val="34458A"/>
            </a:solidFill>
            <a:prstDash val="solid"/>
          </a:ln>
        </p:spPr>
      </p:sp>
      <p:sp>
        <p:nvSpPr>
          <p:cNvPr id="22" name="Shape 20"/>
          <p:cNvSpPr/>
          <p:nvPr/>
        </p:nvSpPr>
        <p:spPr>
          <a:xfrm>
            <a:off x="2286000" y="1746504"/>
            <a:ext cx="1737360" cy="237744"/>
          </a:xfrm>
          <a:prstGeom prst="roundRect">
            <a:avLst>
              <a:gd name="adj" fmla="val 19231"/>
            </a:avLst>
          </a:prstGeom>
          <a:solidFill>
            <a:srgbClr val="10B981"/>
          </a:solidFill>
          <a:ln w="12700">
            <a:solidFill>
              <a:srgbClr val="10B981"/>
            </a:solidFill>
            <a:prstDash val="solid"/>
          </a:ln>
        </p:spPr>
      </p:sp>
      <p:sp>
        <p:nvSpPr>
          <p:cNvPr id="23" name="Text 21"/>
          <p:cNvSpPr txBox="1"/>
          <p:nvPr/>
        </p:nvSpPr>
        <p:spPr>
          <a:xfrm>
            <a:off x="685800" y="2176272"/>
            <a:ext cx="15544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Warning  75-99%</a:t>
            </a:r>
            <a:endParaRPr lang="en-US" sz="1200" dirty="0"/>
          </a:p>
        </p:txBody>
      </p:sp>
      <p:sp>
        <p:nvSpPr>
          <p:cNvPr id="24" name="Shape 22"/>
          <p:cNvSpPr/>
          <p:nvPr/>
        </p:nvSpPr>
        <p:spPr>
          <a:xfrm>
            <a:off x="2286000" y="2203704"/>
            <a:ext cx="3154680" cy="237744"/>
          </a:xfrm>
          <a:prstGeom prst="roundRect">
            <a:avLst>
              <a:gd name="adj" fmla="val 19231"/>
            </a:avLst>
          </a:prstGeom>
          <a:solidFill>
            <a:srgbClr val="0D1440"/>
          </a:solidFill>
          <a:ln w="9525">
            <a:solidFill>
              <a:srgbClr val="34458A"/>
            </a:solidFill>
            <a:prstDash val="solid"/>
          </a:ln>
        </p:spPr>
      </p:sp>
      <p:sp>
        <p:nvSpPr>
          <p:cNvPr id="25" name="Shape 23"/>
          <p:cNvSpPr/>
          <p:nvPr/>
        </p:nvSpPr>
        <p:spPr>
          <a:xfrm>
            <a:off x="2286000" y="2203704"/>
            <a:ext cx="2606040" cy="237744"/>
          </a:xfrm>
          <a:prstGeom prst="roundRect">
            <a:avLst>
              <a:gd name="adj" fmla="val 19231"/>
            </a:avLst>
          </a:prstGeom>
          <a:solidFill>
            <a:srgbClr val="F59E0B"/>
          </a:solidFill>
          <a:ln w="12700">
            <a:solidFill>
              <a:srgbClr val="F59E0B"/>
            </a:solidFill>
            <a:prstDash val="solid"/>
          </a:ln>
        </p:spPr>
      </p:sp>
      <p:sp>
        <p:nvSpPr>
          <p:cNvPr id="26" name="Text 24"/>
          <p:cNvSpPr txBox="1"/>
          <p:nvPr/>
        </p:nvSpPr>
        <p:spPr>
          <a:xfrm>
            <a:off x="685800" y="2633472"/>
            <a:ext cx="15544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Critical  100%+</a:t>
            </a:r>
            <a:endParaRPr lang="en-US" sz="1200" dirty="0"/>
          </a:p>
        </p:txBody>
      </p:sp>
      <p:sp>
        <p:nvSpPr>
          <p:cNvPr id="27" name="Shape 25"/>
          <p:cNvSpPr/>
          <p:nvPr/>
        </p:nvSpPr>
        <p:spPr>
          <a:xfrm>
            <a:off x="2286000" y="2660904"/>
            <a:ext cx="3154680" cy="237744"/>
          </a:xfrm>
          <a:prstGeom prst="roundRect">
            <a:avLst>
              <a:gd name="adj" fmla="val 19231"/>
            </a:avLst>
          </a:prstGeom>
          <a:solidFill>
            <a:srgbClr val="0D1440"/>
          </a:solidFill>
          <a:ln w="9525">
            <a:solidFill>
              <a:srgbClr val="34458A"/>
            </a:solidFill>
            <a:prstDash val="solid"/>
          </a:ln>
        </p:spPr>
      </p:sp>
      <p:sp>
        <p:nvSpPr>
          <p:cNvPr id="28" name="Shape 26"/>
          <p:cNvSpPr/>
          <p:nvPr/>
        </p:nvSpPr>
        <p:spPr>
          <a:xfrm>
            <a:off x="2286000" y="2660904"/>
            <a:ext cx="3127248" cy="237744"/>
          </a:xfrm>
          <a:prstGeom prst="roundRect">
            <a:avLst>
              <a:gd name="adj" fmla="val 19231"/>
            </a:avLst>
          </a:prstGeom>
          <a:solidFill>
            <a:srgbClr val="EF4444"/>
          </a:solidFill>
          <a:ln w="12700">
            <a:solidFill>
              <a:srgbClr val="EF4444"/>
            </a:solidFill>
            <a:prstDash val="solid"/>
          </a:ln>
        </p:spPr>
      </p:sp>
      <p:sp>
        <p:nvSpPr>
          <p:cNvPr id="29" name="Shape 27"/>
          <p:cNvSpPr/>
          <p:nvPr/>
        </p:nvSpPr>
        <p:spPr>
          <a:xfrm>
            <a:off x="457200" y="3337560"/>
            <a:ext cx="5212080" cy="1828800"/>
          </a:xfrm>
          <a:prstGeom prst="roundRect">
            <a:avLst>
              <a:gd name="adj" fmla="val 5000"/>
            </a:avLst>
          </a:prstGeom>
          <a:solidFill>
            <a:srgbClr val="151D4D"/>
          </a:solidFill>
          <a:ln w="12700">
            <a:solidFill>
              <a:srgbClr val="34458A"/>
            </a:solidFill>
            <a:prstDash val="solid"/>
          </a:ln>
        </p:spPr>
      </p:sp>
      <p:sp>
        <p:nvSpPr>
          <p:cNvPr id="30" name="Text 28"/>
          <p:cNvSpPr txBox="1"/>
          <p:nvPr/>
        </p:nvSpPr>
        <p:spPr>
          <a:xfrm>
            <a:off x="685800" y="3474720"/>
            <a:ext cx="4754880" cy="16459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Filter by type, category, payment, dates, notes</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Row click opens edit or confirmed delete</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Add with recurring flag and frequency</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Parameterized SQL, injection resistant</a:t>
            </a:r>
            <a:endParaRPr lang="en-US" sz="1300" dirty="0"/>
          </a:p>
        </p:txBody>
      </p:sp>
      <p:sp>
        <p:nvSpPr>
          <p:cNvPr id="31" name="Shape 29"/>
          <p:cNvSpPr/>
          <p:nvPr/>
        </p:nvSpPr>
        <p:spPr>
          <a:xfrm>
            <a:off x="5943600" y="1234440"/>
            <a:ext cx="5815584" cy="3768344"/>
          </a:xfrm>
          <a:prstGeom prst="roundRect">
            <a:avLst>
              <a:gd name="adj" fmla="val 2427"/>
            </a:avLst>
          </a:prstGeom>
          <a:solidFill>
            <a:srgbClr val="151D4D"/>
          </a:solidFill>
          <a:ln w="15875">
            <a:solidFill>
              <a:srgbClr val="4169E1"/>
            </a:solidFill>
            <a:prstDash val="solid"/>
          </a:ln>
        </p:spPr>
      </p:sp>
      <p:pic>
        <p:nvPicPr>
          <p:cNvPr id="32" name="Image 0" descr="/home/claude/deck/03_transactions_hub.jpg">    </p:cNvPr>
          <p:cNvPicPr>
            <a:picLocks noChangeAspect="1"/>
          </p:cNvPicPr>
          <p:nvPr/>
        </p:nvPicPr>
        <p:blipFill>
          <a:blip r:embed="rId1"/>
          <a:stretch>
            <a:fillRect/>
          </a:stretch>
        </p:blipFill>
        <p:spPr>
          <a:xfrm>
            <a:off x="6016752" y="1307592"/>
            <a:ext cx="5669280" cy="3622040"/>
          </a:xfrm>
          <a:prstGeom prst="rect">
            <a:avLst/>
          </a:prstGeom>
        </p:spPr>
      </p:pic>
      <p:sp>
        <p:nvSpPr>
          <p:cNvPr id="33" name="Text 30"/>
          <p:cNvSpPr txBox="1"/>
          <p:nvPr/>
        </p:nvSpPr>
        <p:spPr>
          <a:xfrm>
            <a:off x="5943600" y="5102352"/>
            <a:ext cx="5788152" cy="27432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Live: 109 transactions shown | Income ₹40,057.06 | Expenses ₹19,965.64 | Net ₹20,091.42</a:t>
            </a:r>
            <a:endParaRPr lang="en-US" sz="1050" dirty="0"/>
          </a:p>
        </p:txBody>
      </p:sp>
      <p:sp>
        <p:nvSpPr>
          <p:cNvPr id="34" name="Shape 31"/>
          <p:cNvSpPr/>
          <p:nvPr/>
        </p:nvSpPr>
        <p:spPr>
          <a:xfrm>
            <a:off x="457200" y="5440680"/>
            <a:ext cx="11274552" cy="777240"/>
          </a:xfrm>
          <a:prstGeom prst="roundRect">
            <a:avLst>
              <a:gd name="adj" fmla="val 11765"/>
            </a:avLst>
          </a:prstGeom>
          <a:solidFill>
            <a:srgbClr val="151D4D"/>
          </a:solidFill>
          <a:ln w="12700">
            <a:solidFill>
              <a:srgbClr val="34458A"/>
            </a:solidFill>
            <a:prstDash val="solid"/>
          </a:ln>
        </p:spPr>
      </p:sp>
      <p:sp>
        <p:nvSpPr>
          <p:cNvPr id="35" name="Text 32"/>
          <p:cNvSpPr txBox="1"/>
          <p:nvPr/>
        </p:nvSpPr>
        <p:spPr>
          <a:xfrm>
            <a:off x="685800" y="5440680"/>
            <a:ext cx="1097280" cy="77724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DATA FLOW</a:t>
            </a:r>
            <a:endParaRPr lang="en-US" sz="1100" dirty="0"/>
          </a:p>
        </p:txBody>
      </p:sp>
      <p:sp>
        <p:nvSpPr>
          <p:cNvPr id="36" name="Shape 33"/>
          <p:cNvSpPr/>
          <p:nvPr/>
        </p:nvSpPr>
        <p:spPr>
          <a:xfrm>
            <a:off x="1828800" y="5596128"/>
            <a:ext cx="1737360" cy="457200"/>
          </a:xfrm>
          <a:prstGeom prst="roundRect">
            <a:avLst>
              <a:gd name="adj" fmla="val 16000"/>
            </a:avLst>
          </a:prstGeom>
          <a:solidFill>
            <a:srgbClr val="0D1440"/>
          </a:solidFill>
          <a:ln w="12700">
            <a:solidFill>
              <a:srgbClr val="34458A"/>
            </a:solidFill>
            <a:prstDash val="solid"/>
          </a:ln>
        </p:spPr>
      </p:sp>
      <p:sp>
        <p:nvSpPr>
          <p:cNvPr id="37" name="Text 34"/>
          <p:cNvSpPr txBox="1"/>
          <p:nvPr/>
        </p:nvSpPr>
        <p:spPr>
          <a:xfrm>
            <a:off x="1874520" y="5596128"/>
            <a:ext cx="1645920" cy="45720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Entry, CSV/XLSX, demo seed</a:t>
            </a:r>
            <a:endParaRPr lang="en-US" sz="1100" dirty="0"/>
          </a:p>
        </p:txBody>
      </p:sp>
      <p:sp>
        <p:nvSpPr>
          <p:cNvPr id="38" name="Shape 35"/>
          <p:cNvSpPr/>
          <p:nvPr/>
        </p:nvSpPr>
        <p:spPr>
          <a:xfrm>
            <a:off x="3611880" y="5715000"/>
            <a:ext cx="228600" cy="219456"/>
          </a:xfrm>
          <a:prstGeom prst="rightArrow">
            <a:avLst/>
          </a:prstGeom>
          <a:solidFill>
            <a:srgbClr val="38BDF8"/>
          </a:solidFill>
          <a:ln w="12700">
            <a:solidFill>
              <a:srgbClr val="38BDF8"/>
            </a:solidFill>
            <a:prstDash val="solid"/>
          </a:ln>
        </p:spPr>
      </p:sp>
      <p:sp>
        <p:nvSpPr>
          <p:cNvPr id="39" name="Shape 36"/>
          <p:cNvSpPr/>
          <p:nvPr/>
        </p:nvSpPr>
        <p:spPr>
          <a:xfrm>
            <a:off x="3840480" y="5596128"/>
            <a:ext cx="1737360" cy="457200"/>
          </a:xfrm>
          <a:prstGeom prst="roundRect">
            <a:avLst>
              <a:gd name="adj" fmla="val 16000"/>
            </a:avLst>
          </a:prstGeom>
          <a:solidFill>
            <a:srgbClr val="0D1440"/>
          </a:solidFill>
          <a:ln w="12700">
            <a:solidFill>
              <a:srgbClr val="34458A"/>
            </a:solidFill>
            <a:prstDash val="solid"/>
          </a:ln>
        </p:spPr>
      </p:sp>
      <p:sp>
        <p:nvSpPr>
          <p:cNvPr id="40" name="Text 37"/>
          <p:cNvSpPr txBox="1"/>
          <p:nvPr/>
        </p:nvSpPr>
        <p:spPr>
          <a:xfrm>
            <a:off x="3886200" y="5596128"/>
            <a:ext cx="1645920" cy="45720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Schema validation</a:t>
            </a:r>
            <a:endParaRPr lang="en-US" sz="1100" dirty="0"/>
          </a:p>
        </p:txBody>
      </p:sp>
      <p:sp>
        <p:nvSpPr>
          <p:cNvPr id="41" name="Shape 38"/>
          <p:cNvSpPr/>
          <p:nvPr/>
        </p:nvSpPr>
        <p:spPr>
          <a:xfrm>
            <a:off x="5623560" y="5715000"/>
            <a:ext cx="228600" cy="219456"/>
          </a:xfrm>
          <a:prstGeom prst="rightArrow">
            <a:avLst/>
          </a:prstGeom>
          <a:solidFill>
            <a:srgbClr val="38BDF8"/>
          </a:solidFill>
          <a:ln w="12700">
            <a:solidFill>
              <a:srgbClr val="38BDF8"/>
            </a:solidFill>
            <a:prstDash val="solid"/>
          </a:ln>
        </p:spPr>
      </p:sp>
      <p:sp>
        <p:nvSpPr>
          <p:cNvPr id="42" name="Shape 39"/>
          <p:cNvSpPr/>
          <p:nvPr/>
        </p:nvSpPr>
        <p:spPr>
          <a:xfrm>
            <a:off x="5852160" y="5596128"/>
            <a:ext cx="1737360" cy="457200"/>
          </a:xfrm>
          <a:prstGeom prst="roundRect">
            <a:avLst>
              <a:gd name="adj" fmla="val 16000"/>
            </a:avLst>
          </a:prstGeom>
          <a:solidFill>
            <a:srgbClr val="0D1440"/>
          </a:solidFill>
          <a:ln w="12700">
            <a:solidFill>
              <a:srgbClr val="34458A"/>
            </a:solidFill>
            <a:prstDash val="solid"/>
          </a:ln>
        </p:spPr>
      </p:sp>
      <p:sp>
        <p:nvSpPr>
          <p:cNvPr id="43" name="Text 40"/>
          <p:cNvSpPr txBox="1"/>
          <p:nvPr/>
        </p:nvSpPr>
        <p:spPr>
          <a:xfrm>
            <a:off x="5897880" y="5596128"/>
            <a:ext cx="1645920" cy="45720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Database</a:t>
            </a:r>
            <a:endParaRPr lang="en-US" sz="1100" dirty="0"/>
          </a:p>
        </p:txBody>
      </p:sp>
      <p:sp>
        <p:nvSpPr>
          <p:cNvPr id="44" name="Shape 41"/>
          <p:cNvSpPr/>
          <p:nvPr/>
        </p:nvSpPr>
        <p:spPr>
          <a:xfrm>
            <a:off x="7635240" y="5715000"/>
            <a:ext cx="228600" cy="219456"/>
          </a:xfrm>
          <a:prstGeom prst="rightArrow">
            <a:avLst/>
          </a:prstGeom>
          <a:solidFill>
            <a:srgbClr val="38BDF8"/>
          </a:solidFill>
          <a:ln w="12700">
            <a:solidFill>
              <a:srgbClr val="38BDF8"/>
            </a:solidFill>
            <a:prstDash val="solid"/>
          </a:ln>
        </p:spPr>
      </p:sp>
      <p:sp>
        <p:nvSpPr>
          <p:cNvPr id="45" name="Shape 42"/>
          <p:cNvSpPr/>
          <p:nvPr/>
        </p:nvSpPr>
        <p:spPr>
          <a:xfrm>
            <a:off x="7863840" y="5596128"/>
            <a:ext cx="1737360" cy="457200"/>
          </a:xfrm>
          <a:prstGeom prst="roundRect">
            <a:avLst>
              <a:gd name="adj" fmla="val 16000"/>
            </a:avLst>
          </a:prstGeom>
          <a:solidFill>
            <a:srgbClr val="0D1440"/>
          </a:solidFill>
          <a:ln w="12700">
            <a:solidFill>
              <a:srgbClr val="34458A"/>
            </a:solidFill>
            <a:prstDash val="solid"/>
          </a:ln>
        </p:spPr>
      </p:sp>
      <p:sp>
        <p:nvSpPr>
          <p:cNvPr id="46" name="Text 43"/>
          <p:cNvSpPr txBox="1"/>
          <p:nvPr/>
        </p:nvSpPr>
        <p:spPr>
          <a:xfrm>
            <a:off x="7909560" y="5596128"/>
            <a:ext cx="1645920" cy="457200"/>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Pandas</a:t>
            </a:r>
            <a:endParaRPr lang="en-US" sz="1100" dirty="0"/>
          </a:p>
        </p:txBody>
      </p:sp>
      <p:sp>
        <p:nvSpPr>
          <p:cNvPr id="47" name="Shape 44"/>
          <p:cNvSpPr/>
          <p:nvPr/>
        </p:nvSpPr>
        <p:spPr>
          <a:xfrm>
            <a:off x="9646920" y="5715000"/>
            <a:ext cx="228600" cy="219456"/>
          </a:xfrm>
          <a:prstGeom prst="rightArrow">
            <a:avLst/>
          </a:prstGeom>
          <a:solidFill>
            <a:srgbClr val="38BDF8"/>
          </a:solidFill>
          <a:ln w="12700">
            <a:solidFill>
              <a:srgbClr val="38BDF8"/>
            </a:solidFill>
            <a:prstDash val="solid"/>
          </a:ln>
        </p:spPr>
      </p:sp>
      <p:sp>
        <p:nvSpPr>
          <p:cNvPr id="48" name="Shape 45"/>
          <p:cNvSpPr/>
          <p:nvPr/>
        </p:nvSpPr>
        <p:spPr>
          <a:xfrm>
            <a:off x="9875520" y="5596128"/>
            <a:ext cx="1737360" cy="457200"/>
          </a:xfrm>
          <a:prstGeom prst="roundRect">
            <a:avLst>
              <a:gd name="adj" fmla="val 16000"/>
            </a:avLst>
          </a:prstGeom>
          <a:solidFill>
            <a:srgbClr val="4169E1"/>
          </a:solidFill>
          <a:ln w="12700">
            <a:solidFill>
              <a:srgbClr val="4169E1"/>
            </a:solidFill>
            <a:prstDash val="solid"/>
          </a:ln>
        </p:spPr>
      </p:sp>
      <p:sp>
        <p:nvSpPr>
          <p:cNvPr id="49" name="Text 46"/>
          <p:cNvSpPr txBox="1"/>
          <p:nvPr/>
        </p:nvSpPr>
        <p:spPr>
          <a:xfrm>
            <a:off x="9921240" y="5596128"/>
            <a:ext cx="16459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Plotly charts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ML Forecasting &amp; Financial Intelligence</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36224" y="6473952"/>
            <a:ext cx="128016" cy="128016"/>
          </a:xfrm>
          <a:prstGeom prst="ellipse">
            <a:avLst/>
          </a:prstGeom>
          <a:solidFill>
            <a:srgbClr val="38BDF8"/>
          </a:solidFill>
          <a:ln w="12700">
            <a:solidFill>
              <a:srgbClr val="38BDF8"/>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34440"/>
            <a:ext cx="4206240" cy="4983480"/>
          </a:xfrm>
          <a:prstGeom prst="roundRect">
            <a:avLst>
              <a:gd name="adj" fmla="val 2174"/>
            </a:avLst>
          </a:prstGeom>
          <a:solidFill>
            <a:srgbClr val="151D4D"/>
          </a:solidFill>
          <a:ln w="12700">
            <a:solidFill>
              <a:srgbClr val="34458A"/>
            </a:solidFill>
            <a:prstDash val="solid"/>
          </a:ln>
        </p:spPr>
      </p:sp>
      <p:sp>
        <p:nvSpPr>
          <p:cNvPr id="19" name="Text 17"/>
          <p:cNvSpPr txBox="1"/>
          <p:nvPr/>
        </p:nvSpPr>
        <p:spPr>
          <a:xfrm>
            <a:off x="685800" y="1371600"/>
            <a:ext cx="365760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FORECAST PIPELINE</a:t>
            </a:r>
            <a:endParaRPr lang="en-US" sz="1100" dirty="0"/>
          </a:p>
        </p:txBody>
      </p:sp>
      <p:sp>
        <p:nvSpPr>
          <p:cNvPr id="20" name="Shape 18"/>
          <p:cNvSpPr/>
          <p:nvPr/>
        </p:nvSpPr>
        <p:spPr>
          <a:xfrm>
            <a:off x="685800" y="1783080"/>
            <a:ext cx="329184" cy="329184"/>
          </a:xfrm>
          <a:prstGeom prst="ellipse">
            <a:avLst/>
          </a:prstGeom>
          <a:solidFill>
            <a:srgbClr val="4169E1"/>
          </a:solidFill>
          <a:ln w="12700">
            <a:solidFill>
              <a:srgbClr val="4169E1"/>
            </a:solidFill>
            <a:prstDash val="solid"/>
          </a:ln>
        </p:spPr>
      </p:sp>
      <p:sp>
        <p:nvSpPr>
          <p:cNvPr id="21" name="Text 19"/>
          <p:cNvSpPr txBox="1"/>
          <p:nvPr/>
        </p:nvSpPr>
        <p:spPr>
          <a:xfrm>
            <a:off x="68580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188720" y="173736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Validate input: 5+ expenses over 2+ months</a:t>
            </a:r>
            <a:endParaRPr lang="en-US" sz="1250" dirty="0"/>
          </a:p>
        </p:txBody>
      </p:sp>
      <p:sp>
        <p:nvSpPr>
          <p:cNvPr id="23" name="Shape 21"/>
          <p:cNvSpPr/>
          <p:nvPr/>
        </p:nvSpPr>
        <p:spPr>
          <a:xfrm>
            <a:off x="685800" y="2331720"/>
            <a:ext cx="329184" cy="329184"/>
          </a:xfrm>
          <a:prstGeom prst="ellipse">
            <a:avLst/>
          </a:prstGeom>
          <a:solidFill>
            <a:srgbClr val="4169E1"/>
          </a:solidFill>
          <a:ln w="12700">
            <a:solidFill>
              <a:srgbClr val="4169E1"/>
            </a:solidFill>
            <a:prstDash val="solid"/>
          </a:ln>
        </p:spPr>
      </p:sp>
      <p:sp>
        <p:nvSpPr>
          <p:cNvPr id="24" name="Text 22"/>
          <p:cNvSpPr txBox="1"/>
          <p:nvPr/>
        </p:nvSpPr>
        <p:spPr>
          <a:xfrm>
            <a:off x="685800" y="2331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1188720" y="228600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Aggregate monthly totals</a:t>
            </a:r>
            <a:endParaRPr lang="en-US" sz="1250" dirty="0"/>
          </a:p>
        </p:txBody>
      </p:sp>
      <p:sp>
        <p:nvSpPr>
          <p:cNvPr id="26" name="Shape 24"/>
          <p:cNvSpPr/>
          <p:nvPr/>
        </p:nvSpPr>
        <p:spPr>
          <a:xfrm>
            <a:off x="685800" y="2880360"/>
            <a:ext cx="329184" cy="329184"/>
          </a:xfrm>
          <a:prstGeom prst="ellipse">
            <a:avLst/>
          </a:prstGeom>
          <a:solidFill>
            <a:srgbClr val="4169E1"/>
          </a:solidFill>
          <a:ln w="12700">
            <a:solidFill>
              <a:srgbClr val="4169E1"/>
            </a:solidFill>
            <a:prstDash val="solid"/>
          </a:ln>
        </p:spPr>
      </p:sp>
      <p:sp>
        <p:nvSpPr>
          <p:cNvPr id="27" name="Text 25"/>
          <p:cNvSpPr txBox="1"/>
          <p:nvPr/>
        </p:nvSpPr>
        <p:spPr>
          <a:xfrm>
            <a:off x="685800" y="2880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txBox="1"/>
          <p:nvPr/>
        </p:nvSpPr>
        <p:spPr>
          <a:xfrm>
            <a:off x="1188720" y="283464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Features: month_index, lag_1, rolling_avg_3</a:t>
            </a:r>
            <a:endParaRPr lang="en-US" sz="1250" dirty="0"/>
          </a:p>
        </p:txBody>
      </p:sp>
      <p:sp>
        <p:nvSpPr>
          <p:cNvPr id="29" name="Shape 27"/>
          <p:cNvSpPr/>
          <p:nvPr/>
        </p:nvSpPr>
        <p:spPr>
          <a:xfrm>
            <a:off x="685800" y="3429000"/>
            <a:ext cx="329184" cy="329184"/>
          </a:xfrm>
          <a:prstGeom prst="ellipse">
            <a:avLst/>
          </a:prstGeom>
          <a:solidFill>
            <a:srgbClr val="4169E1"/>
          </a:solidFill>
          <a:ln w="12700">
            <a:solidFill>
              <a:srgbClr val="4169E1"/>
            </a:solidFill>
            <a:prstDash val="solid"/>
          </a:ln>
        </p:spPr>
      </p:sp>
      <p:sp>
        <p:nvSpPr>
          <p:cNvPr id="30" name="Text 28"/>
          <p:cNvSpPr txBox="1"/>
          <p:nvPr/>
        </p:nvSpPr>
        <p:spPr>
          <a:xfrm>
            <a:off x="685800" y="3429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1188720" y="338328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Fit LinearRegression (RandomForest fallback)</a:t>
            </a:r>
            <a:endParaRPr lang="en-US" sz="1250" dirty="0"/>
          </a:p>
        </p:txBody>
      </p:sp>
      <p:sp>
        <p:nvSpPr>
          <p:cNvPr id="32" name="Shape 30"/>
          <p:cNvSpPr/>
          <p:nvPr/>
        </p:nvSpPr>
        <p:spPr>
          <a:xfrm>
            <a:off x="685800" y="3977640"/>
            <a:ext cx="329184" cy="329184"/>
          </a:xfrm>
          <a:prstGeom prst="ellipse">
            <a:avLst/>
          </a:prstGeom>
          <a:solidFill>
            <a:srgbClr val="4169E1"/>
          </a:solidFill>
          <a:ln w="12700">
            <a:solidFill>
              <a:srgbClr val="4169E1"/>
            </a:solidFill>
            <a:prstDash val="solid"/>
          </a:ln>
        </p:spPr>
      </p:sp>
      <p:sp>
        <p:nvSpPr>
          <p:cNvPr id="33" name="Text 31"/>
          <p:cNvSpPr txBox="1"/>
          <p:nvPr/>
        </p:nvSpPr>
        <p:spPr>
          <a:xfrm>
            <a:off x="685800" y="39776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2"/>
          <p:cNvSpPr txBox="1"/>
          <p:nvPr/>
        </p:nvSpPr>
        <p:spPr>
          <a:xfrm>
            <a:off x="1188720" y="393192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Predict next-month total, floored at 0</a:t>
            </a:r>
            <a:endParaRPr lang="en-US" sz="1250" dirty="0"/>
          </a:p>
        </p:txBody>
      </p:sp>
      <p:sp>
        <p:nvSpPr>
          <p:cNvPr id="35" name="Shape 33"/>
          <p:cNvSpPr/>
          <p:nvPr/>
        </p:nvSpPr>
        <p:spPr>
          <a:xfrm>
            <a:off x="685800" y="4526280"/>
            <a:ext cx="329184" cy="329184"/>
          </a:xfrm>
          <a:prstGeom prst="ellipse">
            <a:avLst/>
          </a:prstGeom>
          <a:solidFill>
            <a:srgbClr val="4169E1"/>
          </a:solidFill>
          <a:ln w="12700">
            <a:solidFill>
              <a:srgbClr val="4169E1"/>
            </a:solidFill>
            <a:prstDash val="solid"/>
          </a:ln>
        </p:spPr>
      </p:sp>
      <p:sp>
        <p:nvSpPr>
          <p:cNvPr id="36" name="Text 34"/>
          <p:cNvSpPr txBox="1"/>
          <p:nvPr/>
        </p:nvSpPr>
        <p:spPr>
          <a:xfrm>
            <a:off x="68580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1188720" y="448056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Confidence bounds from residual std dev</a:t>
            </a:r>
            <a:endParaRPr lang="en-US" sz="1250" dirty="0"/>
          </a:p>
        </p:txBody>
      </p:sp>
      <p:sp>
        <p:nvSpPr>
          <p:cNvPr id="38" name="Shape 36"/>
          <p:cNvSpPr/>
          <p:nvPr/>
        </p:nvSpPr>
        <p:spPr>
          <a:xfrm>
            <a:off x="685800" y="5074920"/>
            <a:ext cx="329184" cy="329184"/>
          </a:xfrm>
          <a:prstGeom prst="ellipse">
            <a:avLst/>
          </a:prstGeom>
          <a:solidFill>
            <a:srgbClr val="4169E1"/>
          </a:solidFill>
          <a:ln w="12700">
            <a:solidFill>
              <a:srgbClr val="4169E1"/>
            </a:solidFill>
            <a:prstDash val="solid"/>
          </a:ln>
        </p:spPr>
      </p:sp>
      <p:sp>
        <p:nvSpPr>
          <p:cNvPr id="39" name="Text 37"/>
          <p:cNvSpPr txBox="1"/>
          <p:nvPr/>
        </p:nvSpPr>
        <p:spPr>
          <a:xfrm>
            <a:off x="685800" y="5074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0" name="Text 38"/>
          <p:cNvSpPr txBox="1"/>
          <p:nvPr/>
        </p:nvSpPr>
        <p:spPr>
          <a:xfrm>
            <a:off x="1188720" y="502920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Category split: 0.6 last month + 0.4 mean</a:t>
            </a:r>
            <a:endParaRPr lang="en-US" sz="1250" dirty="0"/>
          </a:p>
        </p:txBody>
      </p:sp>
      <p:sp>
        <p:nvSpPr>
          <p:cNvPr id="41" name="Shape 39"/>
          <p:cNvSpPr/>
          <p:nvPr/>
        </p:nvSpPr>
        <p:spPr>
          <a:xfrm>
            <a:off x="685800" y="5623560"/>
            <a:ext cx="329184" cy="329184"/>
          </a:xfrm>
          <a:prstGeom prst="ellipse">
            <a:avLst/>
          </a:prstGeom>
          <a:solidFill>
            <a:srgbClr val="4169E1"/>
          </a:solidFill>
          <a:ln w="12700">
            <a:solidFill>
              <a:srgbClr val="4169E1"/>
            </a:solidFill>
            <a:prstDash val="solid"/>
          </a:ln>
        </p:spPr>
      </p:sp>
      <p:sp>
        <p:nvSpPr>
          <p:cNvPr id="42" name="Text 40"/>
          <p:cNvSpPr txBox="1"/>
          <p:nvPr/>
        </p:nvSpPr>
        <p:spPr>
          <a:xfrm>
            <a:off x="685800" y="5623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txBox="1"/>
          <p:nvPr/>
        </p:nvSpPr>
        <p:spPr>
          <a:xfrm>
            <a:off x="1188720" y="5577840"/>
            <a:ext cx="3337560" cy="420624"/>
          </a:xfrm>
          <a:prstGeom prst="rect">
            <a:avLst/>
          </a:prstGeom>
          <a:noFill/>
          <a:ln/>
        </p:spPr>
        <p:txBody>
          <a:bodyPr wrap="square" lIns="0" tIns="0" rIns="0" bIns="0" rtlCol="0" anchor="ctr"/>
          <a:lstStyle/>
          <a:p>
            <a:pPr indent="0" marL="0">
              <a:buNone/>
            </a:pPr>
            <a:r>
              <a:rPr lang="en-US" sz="1250" dirty="0">
                <a:solidFill>
                  <a:srgbClr val="E2E8F0"/>
                </a:solidFill>
                <a:latin typeface="Calibri" pitchFamily="34" charset="0"/>
                <a:ea typeface="Calibri" pitchFamily="34" charset="-122"/>
                <a:cs typeface="Calibri" pitchFamily="34" charset="-120"/>
              </a:rPr>
              <a:t>Classify trend with a +/-5% threshold</a:t>
            </a:r>
            <a:endParaRPr lang="en-US" sz="1250" dirty="0"/>
          </a:p>
        </p:txBody>
      </p:sp>
      <p:sp>
        <p:nvSpPr>
          <p:cNvPr id="44" name="Shape 42"/>
          <p:cNvSpPr/>
          <p:nvPr/>
        </p:nvSpPr>
        <p:spPr>
          <a:xfrm>
            <a:off x="4937760" y="1234440"/>
            <a:ext cx="3392424" cy="2220214"/>
          </a:xfrm>
          <a:prstGeom prst="roundRect">
            <a:avLst>
              <a:gd name="adj" fmla="val 4119"/>
            </a:avLst>
          </a:prstGeom>
          <a:solidFill>
            <a:srgbClr val="151D4D"/>
          </a:solidFill>
          <a:ln w="15875">
            <a:solidFill>
              <a:srgbClr val="4169E1"/>
            </a:solidFill>
            <a:prstDash val="solid"/>
          </a:ln>
        </p:spPr>
      </p:sp>
      <p:pic>
        <p:nvPicPr>
          <p:cNvPr id="45" name="Image 0" descr="/home/claude/deck/06_forecast_ml_engine.jpg">    </p:cNvPr>
          <p:cNvPicPr>
            <a:picLocks noChangeAspect="1"/>
          </p:cNvPicPr>
          <p:nvPr/>
        </p:nvPicPr>
        <p:blipFill>
          <a:blip r:embed="rId1"/>
          <a:stretch>
            <a:fillRect/>
          </a:stretch>
        </p:blipFill>
        <p:spPr>
          <a:xfrm>
            <a:off x="5010912" y="1307592"/>
            <a:ext cx="3246120" cy="2073910"/>
          </a:xfrm>
          <a:prstGeom prst="rect">
            <a:avLst/>
          </a:prstGeom>
        </p:spPr>
      </p:pic>
      <p:sp>
        <p:nvSpPr>
          <p:cNvPr id="46" name="Shape 43"/>
          <p:cNvSpPr/>
          <p:nvPr/>
        </p:nvSpPr>
        <p:spPr>
          <a:xfrm>
            <a:off x="8394192" y="1234440"/>
            <a:ext cx="3346704" cy="2191004"/>
          </a:xfrm>
          <a:prstGeom prst="roundRect">
            <a:avLst>
              <a:gd name="adj" fmla="val 4173"/>
            </a:avLst>
          </a:prstGeom>
          <a:solidFill>
            <a:srgbClr val="151D4D"/>
          </a:solidFill>
          <a:ln w="15875">
            <a:solidFill>
              <a:srgbClr val="4169E1"/>
            </a:solidFill>
            <a:prstDash val="solid"/>
          </a:ln>
        </p:spPr>
      </p:sp>
      <p:pic>
        <p:nvPicPr>
          <p:cNvPr id="47" name="Image 1" descr="/home/claude/deck/07_insights_intelligence.jpg">    </p:cNvPr>
          <p:cNvPicPr>
            <a:picLocks noChangeAspect="1"/>
          </p:cNvPicPr>
          <p:nvPr/>
        </p:nvPicPr>
        <p:blipFill>
          <a:blip r:embed="rId2"/>
          <a:stretch>
            <a:fillRect/>
          </a:stretch>
        </p:blipFill>
        <p:spPr>
          <a:xfrm>
            <a:off x="8467344" y="1307592"/>
            <a:ext cx="3200400" cy="2044700"/>
          </a:xfrm>
          <a:prstGeom prst="rect">
            <a:avLst/>
          </a:prstGeom>
        </p:spPr>
      </p:pic>
      <p:sp>
        <p:nvSpPr>
          <p:cNvPr id="48" name="Text 44"/>
          <p:cNvSpPr txBox="1"/>
          <p:nvPr/>
        </p:nvSpPr>
        <p:spPr>
          <a:xfrm>
            <a:off x="4937760" y="3447288"/>
            <a:ext cx="3383280" cy="2286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Forecast page</a:t>
            </a:r>
            <a:endParaRPr lang="en-US" sz="1050" dirty="0"/>
          </a:p>
        </p:txBody>
      </p:sp>
      <p:sp>
        <p:nvSpPr>
          <p:cNvPr id="49" name="Text 45"/>
          <p:cNvSpPr txBox="1"/>
          <p:nvPr/>
        </p:nvSpPr>
        <p:spPr>
          <a:xfrm>
            <a:off x="8394192" y="3447288"/>
            <a:ext cx="3383280" cy="2286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Insights page</a:t>
            </a:r>
            <a:endParaRPr lang="en-US" sz="1050" dirty="0"/>
          </a:p>
        </p:txBody>
      </p:sp>
      <p:sp>
        <p:nvSpPr>
          <p:cNvPr id="50" name="Shape 46"/>
          <p:cNvSpPr/>
          <p:nvPr/>
        </p:nvSpPr>
        <p:spPr>
          <a:xfrm>
            <a:off x="4937760" y="3794760"/>
            <a:ext cx="1618488" cy="1234440"/>
          </a:xfrm>
          <a:prstGeom prst="roundRect">
            <a:avLst>
              <a:gd name="adj" fmla="val 7407"/>
            </a:avLst>
          </a:prstGeom>
          <a:solidFill>
            <a:srgbClr val="151D4D"/>
          </a:solidFill>
          <a:ln w="12700">
            <a:solidFill>
              <a:srgbClr val="34458A"/>
            </a:solidFill>
            <a:prstDash val="solid"/>
          </a:ln>
        </p:spPr>
      </p:sp>
      <p:sp>
        <p:nvSpPr>
          <p:cNvPr id="51" name="Text 47"/>
          <p:cNvSpPr txBox="1"/>
          <p:nvPr/>
        </p:nvSpPr>
        <p:spPr>
          <a:xfrm>
            <a:off x="4937760" y="3931920"/>
            <a:ext cx="1618488" cy="502920"/>
          </a:xfrm>
          <a:prstGeom prst="rect">
            <a:avLst/>
          </a:prstGeom>
          <a:noFill/>
          <a:ln/>
        </p:spPr>
        <p:txBody>
          <a:bodyPr wrap="square" lIns="0" tIns="0" rIns="0" bIns="0" rtlCol="0" anchor="ctr"/>
          <a:lstStyle/>
          <a:p>
            <a:pPr algn="ctr" indent="0" marL="0">
              <a:buNone/>
            </a:pPr>
            <a:r>
              <a:rPr lang="en-US" sz="2400" b="1" dirty="0">
                <a:solidFill>
                  <a:srgbClr val="38BDF8"/>
                </a:solidFill>
                <a:latin typeface="Calibri" pitchFamily="34" charset="0"/>
                <a:ea typeface="Calibri" pitchFamily="34" charset="-122"/>
                <a:cs typeface="Calibri" pitchFamily="34" charset="-120"/>
              </a:rPr>
              <a:t>₹2,352.01</a:t>
            </a:r>
            <a:endParaRPr lang="en-US" sz="2400" dirty="0"/>
          </a:p>
        </p:txBody>
      </p:sp>
      <p:sp>
        <p:nvSpPr>
          <p:cNvPr id="52" name="Text 48"/>
          <p:cNvSpPr txBox="1"/>
          <p:nvPr/>
        </p:nvSpPr>
        <p:spPr>
          <a:xfrm>
            <a:off x="5029200" y="4526280"/>
            <a:ext cx="1435608"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Predicted next month</a:t>
            </a:r>
            <a:endParaRPr lang="en-US" sz="1100" dirty="0"/>
          </a:p>
        </p:txBody>
      </p:sp>
      <p:sp>
        <p:nvSpPr>
          <p:cNvPr id="53" name="Shape 49"/>
          <p:cNvSpPr/>
          <p:nvPr/>
        </p:nvSpPr>
        <p:spPr>
          <a:xfrm>
            <a:off x="6665976" y="3794760"/>
            <a:ext cx="1618488" cy="1234440"/>
          </a:xfrm>
          <a:prstGeom prst="roundRect">
            <a:avLst>
              <a:gd name="adj" fmla="val 7407"/>
            </a:avLst>
          </a:prstGeom>
          <a:solidFill>
            <a:srgbClr val="151D4D"/>
          </a:solidFill>
          <a:ln w="12700">
            <a:solidFill>
              <a:srgbClr val="34458A"/>
            </a:solidFill>
            <a:prstDash val="solid"/>
          </a:ln>
        </p:spPr>
      </p:sp>
      <p:sp>
        <p:nvSpPr>
          <p:cNvPr id="54" name="Text 50"/>
          <p:cNvSpPr txBox="1"/>
          <p:nvPr/>
        </p:nvSpPr>
        <p:spPr>
          <a:xfrm>
            <a:off x="6665976" y="3931920"/>
            <a:ext cx="1618488" cy="502920"/>
          </a:xfrm>
          <a:prstGeom prst="rect">
            <a:avLst/>
          </a:prstGeom>
          <a:noFill/>
          <a:ln/>
        </p:spPr>
        <p:txBody>
          <a:bodyPr wrap="square" lIns="0" tIns="0" rIns="0" bIns="0" rtlCol="0" anchor="ctr"/>
          <a:lstStyle/>
          <a:p>
            <a:pPr algn="ctr" indent="0" marL="0">
              <a:buNone/>
            </a:pPr>
            <a:r>
              <a:rPr lang="en-US" sz="1800" b="1" dirty="0">
                <a:solidFill>
                  <a:srgbClr val="38BDF8"/>
                </a:solidFill>
                <a:latin typeface="Calibri" pitchFamily="34" charset="0"/>
                <a:ea typeface="Calibri" pitchFamily="34" charset="-122"/>
                <a:cs typeface="Calibri" pitchFamily="34" charset="-120"/>
              </a:rPr>
              <a:t>₹2,333 - ₹2,371</a:t>
            </a:r>
            <a:endParaRPr lang="en-US" sz="1800" dirty="0"/>
          </a:p>
        </p:txBody>
      </p:sp>
      <p:sp>
        <p:nvSpPr>
          <p:cNvPr id="55" name="Text 51"/>
          <p:cNvSpPr txBox="1"/>
          <p:nvPr/>
        </p:nvSpPr>
        <p:spPr>
          <a:xfrm>
            <a:off x="6757416" y="4526280"/>
            <a:ext cx="1435608"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95% expected range</a:t>
            </a:r>
            <a:endParaRPr lang="en-US" sz="1100" dirty="0"/>
          </a:p>
        </p:txBody>
      </p:sp>
      <p:sp>
        <p:nvSpPr>
          <p:cNvPr id="56" name="Shape 52"/>
          <p:cNvSpPr/>
          <p:nvPr/>
        </p:nvSpPr>
        <p:spPr>
          <a:xfrm>
            <a:off x="8394192" y="3794760"/>
            <a:ext cx="1618488" cy="1234440"/>
          </a:xfrm>
          <a:prstGeom prst="roundRect">
            <a:avLst>
              <a:gd name="adj" fmla="val 7407"/>
            </a:avLst>
          </a:prstGeom>
          <a:solidFill>
            <a:srgbClr val="151D4D"/>
          </a:solidFill>
          <a:ln w="12700">
            <a:solidFill>
              <a:srgbClr val="34458A"/>
            </a:solidFill>
            <a:prstDash val="solid"/>
          </a:ln>
        </p:spPr>
      </p:sp>
      <p:sp>
        <p:nvSpPr>
          <p:cNvPr id="57" name="Text 53"/>
          <p:cNvSpPr txBox="1"/>
          <p:nvPr/>
        </p:nvSpPr>
        <p:spPr>
          <a:xfrm>
            <a:off x="8394192" y="3931920"/>
            <a:ext cx="1618488" cy="502920"/>
          </a:xfrm>
          <a:prstGeom prst="rect">
            <a:avLst/>
          </a:prstGeom>
          <a:noFill/>
          <a:ln/>
        </p:spPr>
        <p:txBody>
          <a:bodyPr wrap="square" lIns="0" tIns="0" rIns="0" bIns="0" rtlCol="0" anchor="ctr"/>
          <a:lstStyle/>
          <a:p>
            <a:pPr algn="ctr" indent="0" marL="0">
              <a:buNone/>
            </a:pPr>
            <a:r>
              <a:rPr lang="en-US" sz="2400" b="1" dirty="0">
                <a:solidFill>
                  <a:srgbClr val="F59E0B"/>
                </a:solidFill>
                <a:latin typeface="Calibri" pitchFamily="34" charset="0"/>
                <a:ea typeface="Calibri" pitchFamily="34" charset="-122"/>
                <a:cs typeface="Calibri" pitchFamily="34" charset="-120"/>
              </a:rPr>
              <a:t>+8.6%</a:t>
            </a:r>
            <a:endParaRPr lang="en-US" sz="2400" dirty="0"/>
          </a:p>
        </p:txBody>
      </p:sp>
      <p:sp>
        <p:nvSpPr>
          <p:cNvPr id="58" name="Text 54"/>
          <p:cNvSpPr txBox="1"/>
          <p:nvPr/>
        </p:nvSpPr>
        <p:spPr>
          <a:xfrm>
            <a:off x="8485632" y="4526280"/>
            <a:ext cx="1435608"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Increasing vs last month</a:t>
            </a:r>
            <a:endParaRPr lang="en-US" sz="1100" dirty="0"/>
          </a:p>
        </p:txBody>
      </p:sp>
      <p:sp>
        <p:nvSpPr>
          <p:cNvPr id="59" name="Shape 55"/>
          <p:cNvSpPr/>
          <p:nvPr/>
        </p:nvSpPr>
        <p:spPr>
          <a:xfrm>
            <a:off x="10122408" y="3794760"/>
            <a:ext cx="1618488" cy="1234440"/>
          </a:xfrm>
          <a:prstGeom prst="roundRect">
            <a:avLst>
              <a:gd name="adj" fmla="val 7407"/>
            </a:avLst>
          </a:prstGeom>
          <a:solidFill>
            <a:srgbClr val="151D4D"/>
          </a:solidFill>
          <a:ln w="12700">
            <a:solidFill>
              <a:srgbClr val="34458A"/>
            </a:solidFill>
            <a:prstDash val="solid"/>
          </a:ln>
        </p:spPr>
      </p:sp>
      <p:sp>
        <p:nvSpPr>
          <p:cNvPr id="60" name="Text 56"/>
          <p:cNvSpPr txBox="1"/>
          <p:nvPr/>
        </p:nvSpPr>
        <p:spPr>
          <a:xfrm>
            <a:off x="10122408" y="3931920"/>
            <a:ext cx="1618488" cy="502920"/>
          </a:xfrm>
          <a:prstGeom prst="rect">
            <a:avLst/>
          </a:prstGeom>
          <a:noFill/>
          <a:ln/>
        </p:spPr>
        <p:txBody>
          <a:bodyPr wrap="square" lIns="0" tIns="0" rIns="0" bIns="0" rtlCol="0" anchor="ctr"/>
          <a:lstStyle/>
          <a:p>
            <a:pPr algn="ctr" indent="0" marL="0">
              <a:buNone/>
            </a:pPr>
            <a:r>
              <a:rPr lang="en-US" sz="2200" b="1" dirty="0">
                <a:solidFill>
                  <a:srgbClr val="10B981"/>
                </a:solidFill>
                <a:latin typeface="Calibri" pitchFamily="34" charset="0"/>
                <a:ea typeface="Calibri" pitchFamily="34" charset="-122"/>
                <a:cs typeface="Calibri" pitchFamily="34" charset="-120"/>
              </a:rPr>
              <a:t>42 / 7 / 50</a:t>
            </a:r>
            <a:endParaRPr lang="en-US" sz="2200" dirty="0"/>
          </a:p>
        </p:txBody>
      </p:sp>
      <p:sp>
        <p:nvSpPr>
          <p:cNvPr id="61" name="Text 57"/>
          <p:cNvSpPr txBox="1"/>
          <p:nvPr/>
        </p:nvSpPr>
        <p:spPr>
          <a:xfrm>
            <a:off x="10213848" y="4526280"/>
            <a:ext cx="1435608"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Needs/Wants/Savings</a:t>
            </a:r>
            <a:endParaRPr lang="en-US" sz="1100" dirty="0"/>
          </a:p>
        </p:txBody>
      </p:sp>
      <p:sp>
        <p:nvSpPr>
          <p:cNvPr id="62" name="Shape 58"/>
          <p:cNvSpPr/>
          <p:nvPr/>
        </p:nvSpPr>
        <p:spPr>
          <a:xfrm>
            <a:off x="4937760" y="5212080"/>
            <a:ext cx="6793992" cy="1005840"/>
          </a:xfrm>
          <a:prstGeom prst="roundRect">
            <a:avLst>
              <a:gd name="adj" fmla="val 9091"/>
            </a:avLst>
          </a:prstGeom>
          <a:solidFill>
            <a:srgbClr val="151D4D"/>
          </a:solidFill>
          <a:ln w="12700">
            <a:solidFill>
              <a:srgbClr val="34458A"/>
            </a:solidFill>
            <a:prstDash val="solid"/>
          </a:ln>
        </p:spPr>
      </p:sp>
      <p:sp>
        <p:nvSpPr>
          <p:cNvPr id="63" name="Text 59"/>
          <p:cNvSpPr txBox="1"/>
          <p:nvPr/>
        </p:nvSpPr>
        <p:spPr>
          <a:xfrm>
            <a:off x="5138928" y="5321808"/>
            <a:ext cx="6400800" cy="8229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E2E8F0"/>
                </a:solidFill>
                <a:latin typeface="Calibri" pitchFamily="34" charset="0"/>
                <a:ea typeface="Calibri" pitchFamily="34" charset="-122"/>
                <a:cs typeface="Calibri" pitchFamily="34" charset="-120"/>
              </a:rPr>
              <a:t>Anomaly detector flags a category above 1.25x its 3-month average (50+ units); none flagged this month</a:t>
            </a:r>
            <a:endParaRPr lang="en-US" sz="1250" dirty="0"/>
          </a:p>
          <a:p>
            <a:pPr marL="342900" indent="-342900">
              <a:spcAft>
                <a:spcPts val="500"/>
              </a:spcAft>
              <a:buSzPct val="100000"/>
              <a:buChar char="•"/>
            </a:pPr>
            <a:r>
              <a:rPr lang="en-US" sz="1250" dirty="0">
                <a:solidFill>
                  <a:srgbClr val="E2E8F0"/>
                </a:solidFill>
                <a:latin typeface="Calibri" pitchFamily="34" charset="0"/>
                <a:ea typeface="Calibri" pitchFamily="34" charset="-122"/>
                <a:cs typeface="Calibri" pitchFamily="34" charset="-120"/>
              </a:rPr>
              <a:t>Recurring subscriptions audit: ₹1,883.64 committed per month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Interactive Visual Analytics: 7 Chart Types</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00816" y="6473952"/>
            <a:ext cx="128016" cy="128016"/>
          </a:xfrm>
          <a:prstGeom prst="ellipse">
            <a:avLst/>
          </a:prstGeom>
          <a:solidFill>
            <a:srgbClr val="38BDF8"/>
          </a:solidFill>
          <a:ln w="12700">
            <a:solidFill>
              <a:srgbClr val="38BDF8"/>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34440"/>
            <a:ext cx="7004304" cy="4527804"/>
          </a:xfrm>
          <a:prstGeom prst="roundRect">
            <a:avLst>
              <a:gd name="adj" fmla="val 2020"/>
            </a:avLst>
          </a:prstGeom>
          <a:solidFill>
            <a:srgbClr val="151D4D"/>
          </a:solidFill>
          <a:ln w="15875">
            <a:solidFill>
              <a:srgbClr val="4169E1"/>
            </a:solidFill>
            <a:prstDash val="solid"/>
          </a:ln>
        </p:spPr>
      </p:sp>
      <p:pic>
        <p:nvPicPr>
          <p:cNvPr id="19" name="Image 0" descr="/home/claude/deck/05_analytics_visualizations.jpg">    </p:cNvPr>
          <p:cNvPicPr>
            <a:picLocks noChangeAspect="1"/>
          </p:cNvPicPr>
          <p:nvPr/>
        </p:nvPicPr>
        <p:blipFill>
          <a:blip r:embed="rId1"/>
          <a:stretch>
            <a:fillRect/>
          </a:stretch>
        </p:blipFill>
        <p:spPr>
          <a:xfrm>
            <a:off x="530352" y="1307592"/>
            <a:ext cx="6858000" cy="4381500"/>
          </a:xfrm>
          <a:prstGeom prst="rect">
            <a:avLst/>
          </a:prstGeom>
        </p:spPr>
      </p:pic>
      <p:sp>
        <p:nvSpPr>
          <p:cNvPr id="20" name="Text 17"/>
          <p:cNvSpPr txBox="1"/>
          <p:nvPr/>
        </p:nvSpPr>
        <p:spPr>
          <a:xfrm>
            <a:off x="457200" y="5806440"/>
            <a:ext cx="7040880" cy="2743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page: monthly income vs expenses and cumulative cash flow (Apr to Oct 2026)</a:t>
            </a:r>
            <a:endParaRPr lang="en-US" sz="1100" dirty="0"/>
          </a:p>
        </p:txBody>
      </p:sp>
      <p:sp>
        <p:nvSpPr>
          <p:cNvPr id="21" name="Shape 18"/>
          <p:cNvSpPr/>
          <p:nvPr/>
        </p:nvSpPr>
        <p:spPr>
          <a:xfrm>
            <a:off x="7772400" y="1234440"/>
            <a:ext cx="3959352" cy="4983480"/>
          </a:xfrm>
          <a:prstGeom prst="roundRect">
            <a:avLst>
              <a:gd name="adj" fmla="val 2309"/>
            </a:avLst>
          </a:prstGeom>
          <a:solidFill>
            <a:srgbClr val="151D4D"/>
          </a:solidFill>
          <a:ln w="12700">
            <a:solidFill>
              <a:srgbClr val="34458A"/>
            </a:solidFill>
            <a:prstDash val="solid"/>
          </a:ln>
        </p:spPr>
      </p:sp>
      <p:sp>
        <p:nvSpPr>
          <p:cNvPr id="22" name="Text 19"/>
          <p:cNvSpPr txBox="1"/>
          <p:nvPr/>
        </p:nvSpPr>
        <p:spPr>
          <a:xfrm>
            <a:off x="8001000" y="1371600"/>
            <a:ext cx="347472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THE SEVEN CHART TYPES</a:t>
            </a:r>
            <a:endParaRPr lang="en-US" sz="1100" dirty="0"/>
          </a:p>
        </p:txBody>
      </p:sp>
      <p:sp>
        <p:nvSpPr>
          <p:cNvPr id="23" name="Shape 20"/>
          <p:cNvSpPr/>
          <p:nvPr/>
        </p:nvSpPr>
        <p:spPr>
          <a:xfrm>
            <a:off x="8001000" y="1801368"/>
            <a:ext cx="365760" cy="365760"/>
          </a:xfrm>
          <a:prstGeom prst="ellipse">
            <a:avLst/>
          </a:prstGeom>
          <a:solidFill>
            <a:srgbClr val="4169E1"/>
          </a:solidFill>
          <a:ln w="12700">
            <a:solidFill>
              <a:srgbClr val="4169E1"/>
            </a:solidFill>
            <a:prstDash val="solid"/>
          </a:ln>
        </p:spPr>
      </p:sp>
      <p:sp>
        <p:nvSpPr>
          <p:cNvPr id="24" name="Text 21"/>
          <p:cNvSpPr txBox="1"/>
          <p:nvPr/>
        </p:nvSpPr>
        <p:spPr>
          <a:xfrm>
            <a:off x="8001000" y="1801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2"/>
          <p:cNvSpPr txBox="1"/>
          <p:nvPr/>
        </p:nvSpPr>
        <p:spPr>
          <a:xfrm>
            <a:off x="8503920" y="1737360"/>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Grouped monthly bar</a:t>
            </a:r>
            <a:endParaRPr lang="en-US" sz="1400" dirty="0"/>
          </a:p>
        </p:txBody>
      </p:sp>
      <p:sp>
        <p:nvSpPr>
          <p:cNvPr id="26" name="Text 23"/>
          <p:cNvSpPr txBox="1"/>
          <p:nvPr/>
        </p:nvSpPr>
        <p:spPr>
          <a:xfrm>
            <a:off x="8503920" y="2011680"/>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Monthly &amp; Trend</a:t>
            </a:r>
            <a:endParaRPr lang="en-US" sz="1100" dirty="0"/>
          </a:p>
        </p:txBody>
      </p:sp>
      <p:sp>
        <p:nvSpPr>
          <p:cNvPr id="27" name="Shape 24"/>
          <p:cNvSpPr/>
          <p:nvPr/>
        </p:nvSpPr>
        <p:spPr>
          <a:xfrm>
            <a:off x="8001000" y="2423160"/>
            <a:ext cx="365760" cy="365760"/>
          </a:xfrm>
          <a:prstGeom prst="ellipse">
            <a:avLst/>
          </a:prstGeom>
          <a:solidFill>
            <a:srgbClr val="4169E1"/>
          </a:solidFill>
          <a:ln w="12700">
            <a:solidFill>
              <a:srgbClr val="4169E1"/>
            </a:solidFill>
            <a:prstDash val="solid"/>
          </a:ln>
        </p:spPr>
      </p:sp>
      <p:sp>
        <p:nvSpPr>
          <p:cNvPr id="28" name="Text 25"/>
          <p:cNvSpPr txBox="1"/>
          <p:nvPr/>
        </p:nvSpPr>
        <p:spPr>
          <a:xfrm>
            <a:off x="8001000" y="2423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8503920" y="2359152"/>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Spending donut</a:t>
            </a:r>
            <a:endParaRPr lang="en-US" sz="1400" dirty="0"/>
          </a:p>
        </p:txBody>
      </p:sp>
      <p:sp>
        <p:nvSpPr>
          <p:cNvPr id="30" name="Text 27"/>
          <p:cNvSpPr txBox="1"/>
          <p:nvPr/>
        </p:nvSpPr>
        <p:spPr>
          <a:xfrm>
            <a:off x="8503920" y="2633472"/>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Dashboard</a:t>
            </a:r>
            <a:endParaRPr lang="en-US" sz="1100" dirty="0"/>
          </a:p>
        </p:txBody>
      </p:sp>
      <p:sp>
        <p:nvSpPr>
          <p:cNvPr id="31" name="Shape 28"/>
          <p:cNvSpPr/>
          <p:nvPr/>
        </p:nvSpPr>
        <p:spPr>
          <a:xfrm>
            <a:off x="8001000" y="3044952"/>
            <a:ext cx="365760" cy="365760"/>
          </a:xfrm>
          <a:prstGeom prst="ellipse">
            <a:avLst/>
          </a:prstGeom>
          <a:solidFill>
            <a:srgbClr val="4169E1"/>
          </a:solidFill>
          <a:ln w="12700">
            <a:solidFill>
              <a:srgbClr val="4169E1"/>
            </a:solidFill>
            <a:prstDash val="solid"/>
          </a:ln>
        </p:spPr>
      </p:sp>
      <p:sp>
        <p:nvSpPr>
          <p:cNvPr id="32" name="Text 29"/>
          <p:cNvSpPr txBox="1"/>
          <p:nvPr/>
        </p:nvSpPr>
        <p:spPr>
          <a:xfrm>
            <a:off x="8001000" y="3044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0"/>
          <p:cNvSpPr txBox="1"/>
          <p:nvPr/>
        </p:nvSpPr>
        <p:spPr>
          <a:xfrm>
            <a:off x="8503920" y="2980944"/>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Cumulative cash flow line</a:t>
            </a:r>
            <a:endParaRPr lang="en-US" sz="1400" dirty="0"/>
          </a:p>
        </p:txBody>
      </p:sp>
      <p:sp>
        <p:nvSpPr>
          <p:cNvPr id="34" name="Text 31"/>
          <p:cNvSpPr txBox="1"/>
          <p:nvPr/>
        </p:nvSpPr>
        <p:spPr>
          <a:xfrm>
            <a:off x="8503920" y="3255264"/>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Monthly &amp; Trend</a:t>
            </a:r>
            <a:endParaRPr lang="en-US" sz="1100" dirty="0"/>
          </a:p>
        </p:txBody>
      </p:sp>
      <p:sp>
        <p:nvSpPr>
          <p:cNvPr id="35" name="Shape 32"/>
          <p:cNvSpPr/>
          <p:nvPr/>
        </p:nvSpPr>
        <p:spPr>
          <a:xfrm>
            <a:off x="8001000" y="3666744"/>
            <a:ext cx="365760" cy="365760"/>
          </a:xfrm>
          <a:prstGeom prst="ellipse">
            <a:avLst/>
          </a:prstGeom>
          <a:solidFill>
            <a:srgbClr val="4169E1"/>
          </a:solidFill>
          <a:ln w="12700">
            <a:solidFill>
              <a:srgbClr val="4169E1"/>
            </a:solidFill>
            <a:prstDash val="solid"/>
          </a:ln>
        </p:spPr>
      </p:sp>
      <p:sp>
        <p:nvSpPr>
          <p:cNvPr id="36" name="Text 33"/>
          <p:cNvSpPr txBox="1"/>
          <p:nvPr/>
        </p:nvSpPr>
        <p:spPr>
          <a:xfrm>
            <a:off x="8001000" y="36667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4"/>
          <p:cNvSpPr txBox="1"/>
          <p:nvPr/>
        </p:nvSpPr>
        <p:spPr>
          <a:xfrm>
            <a:off x="8503920" y="3602736"/>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Amount histogram</a:t>
            </a:r>
            <a:endParaRPr lang="en-US" sz="1400" dirty="0"/>
          </a:p>
        </p:txBody>
      </p:sp>
      <p:sp>
        <p:nvSpPr>
          <p:cNvPr id="38" name="Text 35"/>
          <p:cNvSpPr txBox="1"/>
          <p:nvPr/>
        </p:nvSpPr>
        <p:spPr>
          <a:xfrm>
            <a:off x="8503920" y="3877056"/>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Distribution</a:t>
            </a:r>
            <a:endParaRPr lang="en-US" sz="1100" dirty="0"/>
          </a:p>
        </p:txBody>
      </p:sp>
      <p:sp>
        <p:nvSpPr>
          <p:cNvPr id="39" name="Shape 36"/>
          <p:cNvSpPr/>
          <p:nvPr/>
        </p:nvSpPr>
        <p:spPr>
          <a:xfrm>
            <a:off x="8001000" y="4288536"/>
            <a:ext cx="365760" cy="365760"/>
          </a:xfrm>
          <a:prstGeom prst="ellipse">
            <a:avLst/>
          </a:prstGeom>
          <a:solidFill>
            <a:srgbClr val="4169E1"/>
          </a:solidFill>
          <a:ln w="12700">
            <a:solidFill>
              <a:srgbClr val="4169E1"/>
            </a:solidFill>
            <a:prstDash val="solid"/>
          </a:ln>
        </p:spPr>
      </p:sp>
      <p:sp>
        <p:nvSpPr>
          <p:cNvPr id="40" name="Text 37"/>
          <p:cNvSpPr txBox="1"/>
          <p:nvPr/>
        </p:nvSpPr>
        <p:spPr>
          <a:xfrm>
            <a:off x="8001000" y="4288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8"/>
          <p:cNvSpPr txBox="1"/>
          <p:nvPr/>
        </p:nvSpPr>
        <p:spPr>
          <a:xfrm>
            <a:off x="8503920" y="4224528"/>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Box plot (outliers)</a:t>
            </a:r>
            <a:endParaRPr lang="en-US" sz="1400" dirty="0"/>
          </a:p>
        </p:txBody>
      </p:sp>
      <p:sp>
        <p:nvSpPr>
          <p:cNvPr id="42" name="Text 39"/>
          <p:cNvSpPr txBox="1"/>
          <p:nvPr/>
        </p:nvSpPr>
        <p:spPr>
          <a:xfrm>
            <a:off x="8503920" y="4498848"/>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Distribution</a:t>
            </a:r>
            <a:endParaRPr lang="en-US" sz="1100" dirty="0"/>
          </a:p>
        </p:txBody>
      </p:sp>
      <p:sp>
        <p:nvSpPr>
          <p:cNvPr id="43" name="Shape 40"/>
          <p:cNvSpPr/>
          <p:nvPr/>
        </p:nvSpPr>
        <p:spPr>
          <a:xfrm>
            <a:off x="8001000" y="4910328"/>
            <a:ext cx="365760" cy="365760"/>
          </a:xfrm>
          <a:prstGeom prst="ellipse">
            <a:avLst/>
          </a:prstGeom>
          <a:solidFill>
            <a:srgbClr val="4169E1"/>
          </a:solidFill>
          <a:ln w="12700">
            <a:solidFill>
              <a:srgbClr val="4169E1"/>
            </a:solidFill>
            <a:prstDash val="solid"/>
          </a:ln>
        </p:spPr>
      </p:sp>
      <p:sp>
        <p:nvSpPr>
          <p:cNvPr id="44" name="Text 41"/>
          <p:cNvSpPr txBox="1"/>
          <p:nvPr/>
        </p:nvSpPr>
        <p:spPr>
          <a:xfrm>
            <a:off x="8001000" y="4910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5" name="Text 42"/>
          <p:cNvSpPr txBox="1"/>
          <p:nvPr/>
        </p:nvSpPr>
        <p:spPr>
          <a:xfrm>
            <a:off x="8503920" y="4846320"/>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Category treemap</a:t>
            </a:r>
            <a:endParaRPr lang="en-US" sz="1400" dirty="0"/>
          </a:p>
        </p:txBody>
      </p:sp>
      <p:sp>
        <p:nvSpPr>
          <p:cNvPr id="46" name="Text 43"/>
          <p:cNvSpPr txBox="1"/>
          <p:nvPr/>
        </p:nvSpPr>
        <p:spPr>
          <a:xfrm>
            <a:off x="8503920" y="5120640"/>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Treemap tab</a:t>
            </a:r>
            <a:endParaRPr lang="en-US" sz="1100" dirty="0"/>
          </a:p>
        </p:txBody>
      </p:sp>
      <p:sp>
        <p:nvSpPr>
          <p:cNvPr id="47" name="Shape 44"/>
          <p:cNvSpPr/>
          <p:nvPr/>
        </p:nvSpPr>
        <p:spPr>
          <a:xfrm>
            <a:off x="8001000" y="5532120"/>
            <a:ext cx="365760" cy="365760"/>
          </a:xfrm>
          <a:prstGeom prst="ellipse">
            <a:avLst/>
          </a:prstGeom>
          <a:solidFill>
            <a:srgbClr val="4169E1"/>
          </a:solidFill>
          <a:ln w="12700">
            <a:solidFill>
              <a:srgbClr val="4169E1"/>
            </a:solidFill>
            <a:prstDash val="solid"/>
          </a:ln>
        </p:spPr>
      </p:sp>
      <p:sp>
        <p:nvSpPr>
          <p:cNvPr id="48" name="Text 45"/>
          <p:cNvSpPr txBox="1"/>
          <p:nvPr/>
        </p:nvSpPr>
        <p:spPr>
          <a:xfrm>
            <a:off x="8001000" y="5532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9" name="Text 46"/>
          <p:cNvSpPr txBox="1"/>
          <p:nvPr/>
        </p:nvSpPr>
        <p:spPr>
          <a:xfrm>
            <a:off x="8503920" y="5468112"/>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Day-of-week heatmap</a:t>
            </a:r>
            <a:endParaRPr lang="en-US" sz="1400" dirty="0"/>
          </a:p>
        </p:txBody>
      </p:sp>
      <p:sp>
        <p:nvSpPr>
          <p:cNvPr id="50" name="Text 47"/>
          <p:cNvSpPr txBox="1"/>
          <p:nvPr/>
        </p:nvSpPr>
        <p:spPr>
          <a:xfrm>
            <a:off x="8503920" y="5742432"/>
            <a:ext cx="310896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Analytics: Heatmap tab</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Cloud Deployment &amp; Graceful Fallback</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65408" y="6473952"/>
            <a:ext cx="128016" cy="128016"/>
          </a:xfrm>
          <a:prstGeom prst="ellipse">
            <a:avLst/>
          </a:prstGeom>
          <a:solidFill>
            <a:srgbClr val="38BDF8"/>
          </a:solidFill>
          <a:ln w="12700">
            <a:solidFill>
              <a:srgbClr val="38BDF8"/>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80160"/>
            <a:ext cx="2377440" cy="1737360"/>
          </a:xfrm>
          <a:prstGeom prst="roundRect">
            <a:avLst>
              <a:gd name="adj" fmla="val 5263"/>
            </a:avLst>
          </a:prstGeom>
          <a:solidFill>
            <a:srgbClr val="151D4D"/>
          </a:solidFill>
          <a:ln w="12700">
            <a:solidFill>
              <a:srgbClr val="34458A"/>
            </a:solidFill>
            <a:prstDash val="solid"/>
          </a:ln>
        </p:spPr>
      </p:sp>
      <p:sp>
        <p:nvSpPr>
          <p:cNvPr id="19" name="Shape 17"/>
          <p:cNvSpPr/>
          <p:nvPr/>
        </p:nvSpPr>
        <p:spPr>
          <a:xfrm>
            <a:off x="1325880" y="1417320"/>
            <a:ext cx="640080" cy="640080"/>
          </a:xfrm>
          <a:prstGeom prst="ellipse">
            <a:avLst/>
          </a:prstGeom>
          <a:solidFill>
            <a:srgbClr val="4169E1"/>
          </a:solidFill>
          <a:ln w="12700">
            <a:solidFill>
              <a:srgbClr val="4169E1"/>
            </a:solidFill>
            <a:prstDash val="solid"/>
          </a:ln>
        </p:spPr>
      </p:sp>
      <p:pic>
        <p:nvPicPr>
          <p:cNvPr id="20" name="Image 0" descr="preencoded.png">    </p:cNvPr>
          <p:cNvPicPr>
            <a:picLocks noChangeAspect="1"/>
          </p:cNvPicPr>
          <p:nvPr/>
        </p:nvPicPr>
        <p:blipFill>
          <a:blip r:embed="rId1"/>
          <a:stretch>
            <a:fillRect/>
          </a:stretch>
        </p:blipFill>
        <p:spPr>
          <a:xfrm>
            <a:off x="1485900" y="1577340"/>
            <a:ext cx="320040" cy="320040"/>
          </a:xfrm>
          <a:prstGeom prst="rect">
            <a:avLst/>
          </a:prstGeom>
        </p:spPr>
      </p:pic>
      <p:sp>
        <p:nvSpPr>
          <p:cNvPr id="21" name="Text 18"/>
          <p:cNvSpPr txBox="1"/>
          <p:nvPr/>
        </p:nvSpPr>
        <p:spPr>
          <a:xfrm>
            <a:off x="457200" y="2148840"/>
            <a:ext cx="237744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Developer</a:t>
            </a:r>
            <a:endParaRPr lang="en-US" sz="1500" dirty="0"/>
          </a:p>
        </p:txBody>
      </p:sp>
      <p:sp>
        <p:nvSpPr>
          <p:cNvPr id="22" name="Text 19"/>
          <p:cNvSpPr txBox="1"/>
          <p:nvPr/>
        </p:nvSpPr>
        <p:spPr>
          <a:xfrm>
            <a:off x="594360" y="2487168"/>
            <a:ext cx="2103120" cy="45720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git push to main</a:t>
            </a:r>
            <a:endParaRPr lang="en-US" sz="1200" dirty="0"/>
          </a:p>
        </p:txBody>
      </p:sp>
      <p:sp>
        <p:nvSpPr>
          <p:cNvPr id="23" name="Shape 20"/>
          <p:cNvSpPr/>
          <p:nvPr/>
        </p:nvSpPr>
        <p:spPr>
          <a:xfrm>
            <a:off x="2880360" y="2148840"/>
            <a:ext cx="457200" cy="0"/>
          </a:xfrm>
          <a:prstGeom prst="line">
            <a:avLst/>
          </a:prstGeom>
          <a:noFill/>
          <a:ln w="28575">
            <a:solidFill>
              <a:srgbClr val="38BDF8"/>
            </a:solidFill>
            <a:prstDash val="solid"/>
            <a:tailEnd type="triangle"/>
          </a:ln>
        </p:spPr>
      </p:sp>
      <p:sp>
        <p:nvSpPr>
          <p:cNvPr id="24" name="Shape 21"/>
          <p:cNvSpPr/>
          <p:nvPr/>
        </p:nvSpPr>
        <p:spPr>
          <a:xfrm>
            <a:off x="3383280" y="1280160"/>
            <a:ext cx="2377440" cy="1737360"/>
          </a:xfrm>
          <a:prstGeom prst="roundRect">
            <a:avLst>
              <a:gd name="adj" fmla="val 5263"/>
            </a:avLst>
          </a:prstGeom>
          <a:solidFill>
            <a:srgbClr val="151D4D"/>
          </a:solidFill>
          <a:ln w="12700">
            <a:solidFill>
              <a:srgbClr val="34458A"/>
            </a:solidFill>
            <a:prstDash val="solid"/>
          </a:ln>
        </p:spPr>
      </p:sp>
      <p:sp>
        <p:nvSpPr>
          <p:cNvPr id="25" name="Shape 22"/>
          <p:cNvSpPr/>
          <p:nvPr/>
        </p:nvSpPr>
        <p:spPr>
          <a:xfrm>
            <a:off x="4251960" y="1417320"/>
            <a:ext cx="640080" cy="640080"/>
          </a:xfrm>
          <a:prstGeom prst="ellipse">
            <a:avLst/>
          </a:prstGeom>
          <a:solidFill>
            <a:srgbClr val="94A3B8"/>
          </a:solidFill>
          <a:ln w="12700">
            <a:solidFill>
              <a:srgbClr val="94A3B8"/>
            </a:solidFill>
            <a:prstDash val="solid"/>
          </a:ln>
        </p:spPr>
      </p:sp>
      <p:pic>
        <p:nvPicPr>
          <p:cNvPr id="26" name="Image 1" descr="preencoded.png">    </p:cNvPr>
          <p:cNvPicPr>
            <a:picLocks noChangeAspect="1"/>
          </p:cNvPicPr>
          <p:nvPr/>
        </p:nvPicPr>
        <p:blipFill>
          <a:blip r:embed="rId2"/>
          <a:stretch>
            <a:fillRect/>
          </a:stretch>
        </p:blipFill>
        <p:spPr>
          <a:xfrm>
            <a:off x="4411980" y="1577340"/>
            <a:ext cx="320040" cy="320040"/>
          </a:xfrm>
          <a:prstGeom prst="rect">
            <a:avLst/>
          </a:prstGeom>
        </p:spPr>
      </p:pic>
      <p:sp>
        <p:nvSpPr>
          <p:cNvPr id="27" name="Text 23"/>
          <p:cNvSpPr txBox="1"/>
          <p:nvPr/>
        </p:nvSpPr>
        <p:spPr>
          <a:xfrm>
            <a:off x="3383280" y="2148840"/>
            <a:ext cx="237744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GitHub</a:t>
            </a:r>
            <a:endParaRPr lang="en-US" sz="1500" dirty="0"/>
          </a:p>
        </p:txBody>
      </p:sp>
      <p:sp>
        <p:nvSpPr>
          <p:cNvPr id="28" name="Text 24"/>
          <p:cNvSpPr txBox="1"/>
          <p:nvPr/>
        </p:nvSpPr>
        <p:spPr>
          <a:xfrm>
            <a:off x="3520440" y="2487168"/>
            <a:ext cx="2103120" cy="45720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Source repository</a:t>
            </a:r>
            <a:endParaRPr lang="en-US" sz="1200" dirty="0"/>
          </a:p>
        </p:txBody>
      </p:sp>
      <p:sp>
        <p:nvSpPr>
          <p:cNvPr id="29" name="Shape 25"/>
          <p:cNvSpPr/>
          <p:nvPr/>
        </p:nvSpPr>
        <p:spPr>
          <a:xfrm>
            <a:off x="5806440" y="2148840"/>
            <a:ext cx="457200" cy="0"/>
          </a:xfrm>
          <a:prstGeom prst="line">
            <a:avLst/>
          </a:prstGeom>
          <a:noFill/>
          <a:ln w="28575">
            <a:solidFill>
              <a:srgbClr val="38BDF8"/>
            </a:solidFill>
            <a:prstDash val="solid"/>
            <a:tailEnd type="triangle"/>
          </a:ln>
        </p:spPr>
      </p:sp>
      <p:sp>
        <p:nvSpPr>
          <p:cNvPr id="30" name="Shape 26"/>
          <p:cNvSpPr/>
          <p:nvPr/>
        </p:nvSpPr>
        <p:spPr>
          <a:xfrm>
            <a:off x="6309360" y="1280160"/>
            <a:ext cx="2377440" cy="1737360"/>
          </a:xfrm>
          <a:prstGeom prst="roundRect">
            <a:avLst>
              <a:gd name="adj" fmla="val 5263"/>
            </a:avLst>
          </a:prstGeom>
          <a:solidFill>
            <a:srgbClr val="151D4D"/>
          </a:solidFill>
          <a:ln w="12700">
            <a:solidFill>
              <a:srgbClr val="34458A"/>
            </a:solidFill>
            <a:prstDash val="solid"/>
          </a:ln>
        </p:spPr>
      </p:sp>
      <p:sp>
        <p:nvSpPr>
          <p:cNvPr id="31" name="Shape 27"/>
          <p:cNvSpPr/>
          <p:nvPr/>
        </p:nvSpPr>
        <p:spPr>
          <a:xfrm>
            <a:off x="7178040" y="1417320"/>
            <a:ext cx="640080" cy="640080"/>
          </a:xfrm>
          <a:prstGeom prst="ellipse">
            <a:avLst/>
          </a:prstGeom>
          <a:solidFill>
            <a:srgbClr val="38BDF8"/>
          </a:solidFill>
          <a:ln w="12700">
            <a:solidFill>
              <a:srgbClr val="38BDF8"/>
            </a:solidFill>
            <a:prstDash val="solid"/>
          </a:ln>
        </p:spPr>
      </p:sp>
      <p:pic>
        <p:nvPicPr>
          <p:cNvPr id="32" name="Image 2" descr="preencoded.png">    </p:cNvPr>
          <p:cNvPicPr>
            <a:picLocks noChangeAspect="1"/>
          </p:cNvPicPr>
          <p:nvPr/>
        </p:nvPicPr>
        <p:blipFill>
          <a:blip r:embed="rId3"/>
          <a:stretch>
            <a:fillRect/>
          </a:stretch>
        </p:blipFill>
        <p:spPr>
          <a:xfrm>
            <a:off x="7338060" y="1577340"/>
            <a:ext cx="320040" cy="320040"/>
          </a:xfrm>
          <a:prstGeom prst="rect">
            <a:avLst/>
          </a:prstGeom>
        </p:spPr>
      </p:pic>
      <p:sp>
        <p:nvSpPr>
          <p:cNvPr id="33" name="Text 28"/>
          <p:cNvSpPr txBox="1"/>
          <p:nvPr/>
        </p:nvSpPr>
        <p:spPr>
          <a:xfrm>
            <a:off x="6309360" y="2148840"/>
            <a:ext cx="237744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Streamlit Cloud</a:t>
            </a:r>
            <a:endParaRPr lang="en-US" sz="1500" dirty="0"/>
          </a:p>
        </p:txBody>
      </p:sp>
      <p:sp>
        <p:nvSpPr>
          <p:cNvPr id="34" name="Text 29"/>
          <p:cNvSpPr txBox="1"/>
          <p:nvPr/>
        </p:nvSpPr>
        <p:spPr>
          <a:xfrm>
            <a:off x="6446520" y="2487168"/>
            <a:ext cx="2103120" cy="45720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Python 3.10+ container, auto-deploy</a:t>
            </a:r>
            <a:endParaRPr lang="en-US" sz="1200" dirty="0"/>
          </a:p>
        </p:txBody>
      </p:sp>
      <p:sp>
        <p:nvSpPr>
          <p:cNvPr id="35" name="Shape 30"/>
          <p:cNvSpPr/>
          <p:nvPr/>
        </p:nvSpPr>
        <p:spPr>
          <a:xfrm>
            <a:off x="8732520" y="2148840"/>
            <a:ext cx="457200" cy="0"/>
          </a:xfrm>
          <a:prstGeom prst="line">
            <a:avLst/>
          </a:prstGeom>
          <a:noFill/>
          <a:ln w="28575">
            <a:solidFill>
              <a:srgbClr val="38BDF8"/>
            </a:solidFill>
            <a:prstDash val="solid"/>
            <a:tailEnd type="triangle"/>
          </a:ln>
        </p:spPr>
      </p:sp>
      <p:sp>
        <p:nvSpPr>
          <p:cNvPr id="36" name="Shape 31"/>
          <p:cNvSpPr/>
          <p:nvPr/>
        </p:nvSpPr>
        <p:spPr>
          <a:xfrm>
            <a:off x="9235440" y="1280160"/>
            <a:ext cx="2377440" cy="1737360"/>
          </a:xfrm>
          <a:prstGeom prst="roundRect">
            <a:avLst>
              <a:gd name="adj" fmla="val 5263"/>
            </a:avLst>
          </a:prstGeom>
          <a:solidFill>
            <a:srgbClr val="151D4D"/>
          </a:solidFill>
          <a:ln w="12700">
            <a:solidFill>
              <a:srgbClr val="34458A"/>
            </a:solidFill>
            <a:prstDash val="solid"/>
          </a:ln>
        </p:spPr>
      </p:sp>
      <p:sp>
        <p:nvSpPr>
          <p:cNvPr id="37" name="Shape 32"/>
          <p:cNvSpPr/>
          <p:nvPr/>
        </p:nvSpPr>
        <p:spPr>
          <a:xfrm>
            <a:off x="10104120" y="1417320"/>
            <a:ext cx="640080" cy="640080"/>
          </a:xfrm>
          <a:prstGeom prst="ellipse">
            <a:avLst/>
          </a:prstGeom>
          <a:solidFill>
            <a:srgbClr val="10B981"/>
          </a:solidFill>
          <a:ln w="12700">
            <a:solidFill>
              <a:srgbClr val="10B981"/>
            </a:solidFill>
            <a:prstDash val="solid"/>
          </a:ln>
        </p:spPr>
      </p:sp>
      <p:pic>
        <p:nvPicPr>
          <p:cNvPr id="38" name="Image 3" descr="preencoded.png">    </p:cNvPr>
          <p:cNvPicPr>
            <a:picLocks noChangeAspect="1"/>
          </p:cNvPicPr>
          <p:nvPr/>
        </p:nvPicPr>
        <p:blipFill>
          <a:blip r:embed="rId4"/>
          <a:stretch>
            <a:fillRect/>
          </a:stretch>
        </p:blipFill>
        <p:spPr>
          <a:xfrm>
            <a:off x="10264140" y="1577340"/>
            <a:ext cx="320040" cy="320040"/>
          </a:xfrm>
          <a:prstGeom prst="rect">
            <a:avLst/>
          </a:prstGeom>
        </p:spPr>
      </p:pic>
      <p:sp>
        <p:nvSpPr>
          <p:cNvPr id="39" name="Text 33"/>
          <p:cNvSpPr txBox="1"/>
          <p:nvPr/>
        </p:nvSpPr>
        <p:spPr>
          <a:xfrm>
            <a:off x="9235440" y="2148840"/>
            <a:ext cx="237744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Supabase Postgres</a:t>
            </a:r>
            <a:endParaRPr lang="en-US" sz="1500" dirty="0"/>
          </a:p>
        </p:txBody>
      </p:sp>
      <p:sp>
        <p:nvSpPr>
          <p:cNvPr id="40" name="Text 34"/>
          <p:cNvSpPr txBox="1"/>
          <p:nvPr/>
        </p:nvSpPr>
        <p:spPr>
          <a:xfrm>
            <a:off x="9372600" y="2487168"/>
            <a:ext cx="2103120" cy="45720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Pooler on port 6543</a:t>
            </a:r>
            <a:endParaRPr lang="en-US" sz="1200" dirty="0"/>
          </a:p>
        </p:txBody>
      </p:sp>
      <p:sp>
        <p:nvSpPr>
          <p:cNvPr id="41" name="Shape 35"/>
          <p:cNvSpPr/>
          <p:nvPr/>
        </p:nvSpPr>
        <p:spPr>
          <a:xfrm>
            <a:off x="10515600" y="3063240"/>
            <a:ext cx="0" cy="502920"/>
          </a:xfrm>
          <a:prstGeom prst="line">
            <a:avLst/>
          </a:prstGeom>
          <a:noFill/>
          <a:ln w="28575">
            <a:solidFill>
              <a:srgbClr val="F59E0B"/>
            </a:solidFill>
            <a:prstDash val="dash"/>
            <a:tailEnd type="triangle"/>
          </a:ln>
        </p:spPr>
      </p:sp>
      <p:sp>
        <p:nvSpPr>
          <p:cNvPr id="42" name="Text 36"/>
          <p:cNvSpPr txBox="1"/>
          <p:nvPr/>
        </p:nvSpPr>
        <p:spPr>
          <a:xfrm>
            <a:off x="8595360" y="3182112"/>
            <a:ext cx="1828800" cy="256032"/>
          </a:xfrm>
          <a:prstGeom prst="rect">
            <a:avLst/>
          </a:prstGeom>
          <a:noFill/>
          <a:ln/>
        </p:spPr>
        <p:txBody>
          <a:bodyPr wrap="square" lIns="0" tIns="0" rIns="0" bIns="0" rtlCol="0" anchor="t"/>
          <a:lstStyle/>
          <a:p>
            <a:pPr algn="r" indent="0" marL="0">
              <a:buNone/>
            </a:pPr>
            <a:r>
              <a:rPr lang="en-US" sz="1100" b="1" dirty="0">
                <a:solidFill>
                  <a:srgbClr val="F59E0B"/>
                </a:solidFill>
                <a:latin typeface="Calibri" pitchFamily="34" charset="0"/>
                <a:ea typeface="Calibri" pitchFamily="34" charset="-122"/>
                <a:cs typeface="Calibri" pitchFamily="34" charset="-120"/>
              </a:rPr>
              <a:t>if unreachable</a:t>
            </a:r>
            <a:endParaRPr lang="en-US" sz="1100" dirty="0"/>
          </a:p>
        </p:txBody>
      </p:sp>
      <p:sp>
        <p:nvSpPr>
          <p:cNvPr id="43" name="Shape 37"/>
          <p:cNvSpPr/>
          <p:nvPr/>
        </p:nvSpPr>
        <p:spPr>
          <a:xfrm>
            <a:off x="9235440" y="3611880"/>
            <a:ext cx="2496312" cy="1005840"/>
          </a:xfrm>
          <a:prstGeom prst="roundRect">
            <a:avLst>
              <a:gd name="adj" fmla="val 9091"/>
            </a:avLst>
          </a:prstGeom>
          <a:solidFill>
            <a:srgbClr val="3D2A08"/>
          </a:solidFill>
          <a:ln w="15875">
            <a:solidFill>
              <a:srgbClr val="F59E0B"/>
            </a:solidFill>
            <a:prstDash val="solid"/>
          </a:ln>
        </p:spPr>
      </p:sp>
      <p:sp>
        <p:nvSpPr>
          <p:cNvPr id="44" name="Text 38"/>
          <p:cNvSpPr txBox="1"/>
          <p:nvPr/>
        </p:nvSpPr>
        <p:spPr>
          <a:xfrm>
            <a:off x="9235440" y="3749040"/>
            <a:ext cx="2496312"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SQLite 3 (WAL)</a:t>
            </a:r>
            <a:endParaRPr lang="en-US" sz="1500" dirty="0"/>
          </a:p>
        </p:txBody>
      </p:sp>
      <p:sp>
        <p:nvSpPr>
          <p:cNvPr id="45" name="Text 39"/>
          <p:cNvSpPr txBox="1"/>
          <p:nvPr/>
        </p:nvSpPr>
        <p:spPr>
          <a:xfrm>
            <a:off x="9235440" y="4114800"/>
            <a:ext cx="2496312" cy="274320"/>
          </a:xfrm>
          <a:prstGeom prst="rect">
            <a:avLst/>
          </a:prstGeom>
          <a:noFill/>
          <a:ln/>
        </p:spPr>
        <p:txBody>
          <a:bodyPr wrap="square" lIns="0" tIns="0" rIns="0" bIns="0" rtlCol="0" anchor="t"/>
          <a:lstStyle/>
          <a:p>
            <a:pPr algn="ctr" indent="0" marL="0">
              <a:buNone/>
            </a:pPr>
            <a:r>
              <a:rPr lang="en-US" sz="1200" dirty="0">
                <a:solidFill>
                  <a:srgbClr val="E2E8F0"/>
                </a:solidFill>
                <a:latin typeface="Calibri" pitchFamily="34" charset="0"/>
                <a:ea typeface="Calibri" pitchFamily="34" charset="-122"/>
                <a:cs typeface="Calibri" pitchFamily="34" charset="-120"/>
              </a:rPr>
              <a:t>Local fallback</a:t>
            </a:r>
            <a:endParaRPr lang="en-US" sz="1200" dirty="0"/>
          </a:p>
        </p:txBody>
      </p:sp>
      <p:sp>
        <p:nvSpPr>
          <p:cNvPr id="46" name="Shape 40"/>
          <p:cNvSpPr/>
          <p:nvPr/>
        </p:nvSpPr>
        <p:spPr>
          <a:xfrm>
            <a:off x="457200" y="3611880"/>
            <a:ext cx="8549640" cy="1005840"/>
          </a:xfrm>
          <a:prstGeom prst="roundRect">
            <a:avLst>
              <a:gd name="adj" fmla="val 9091"/>
            </a:avLst>
          </a:prstGeom>
          <a:solidFill>
            <a:srgbClr val="151D4D"/>
          </a:solidFill>
          <a:ln w="12700">
            <a:solidFill>
              <a:srgbClr val="34458A"/>
            </a:solidFill>
            <a:prstDash val="solid"/>
          </a:ln>
        </p:spPr>
      </p:sp>
      <p:sp>
        <p:nvSpPr>
          <p:cNvPr id="47" name="Text 41"/>
          <p:cNvSpPr txBox="1"/>
          <p:nvPr/>
        </p:nvSpPr>
        <p:spPr>
          <a:xfrm>
            <a:off x="731520" y="3721608"/>
            <a:ext cx="3657600" cy="274320"/>
          </a:xfrm>
          <a:prstGeom prst="rect">
            <a:avLst/>
          </a:prstGeom>
          <a:noFill/>
          <a:ln/>
        </p:spPr>
        <p:txBody>
          <a:bodyPr wrap="square" lIns="0" tIns="0" rIns="0" bIns="0" rtlCol="0" anchor="t"/>
          <a:lstStyle/>
          <a:p>
            <a:pPr indent="0" marL="0">
              <a:buNone/>
            </a:pPr>
            <a:r>
              <a:rPr lang="en-US" sz="1400" b="1" dirty="0">
                <a:solidFill>
                  <a:srgbClr val="F59E0B"/>
                </a:solidFill>
                <a:latin typeface="Calibri" pitchFamily="34" charset="0"/>
                <a:ea typeface="Calibri" pitchFamily="34" charset="-122"/>
                <a:cs typeface="Calibri" pitchFamily="34" charset="-120"/>
              </a:rPr>
              <a:t>Graceful fallback</a:t>
            </a:r>
            <a:endParaRPr lang="en-US" sz="1400" dirty="0"/>
          </a:p>
        </p:txBody>
      </p:sp>
      <p:sp>
        <p:nvSpPr>
          <p:cNvPr id="48" name="Text 42"/>
          <p:cNvSpPr txBox="1"/>
          <p:nvPr/>
        </p:nvSpPr>
        <p:spPr>
          <a:xfrm>
            <a:off x="731520" y="4050792"/>
            <a:ext cx="8046720" cy="502920"/>
          </a:xfrm>
          <a:prstGeom prst="rect">
            <a:avLst/>
          </a:prstGeom>
          <a:noFill/>
          <a:ln/>
        </p:spPr>
        <p:txBody>
          <a:bodyPr wrap="square" lIns="0" tIns="0" rIns="0" bIns="0" rtlCol="0" anchor="t"/>
          <a:lstStyle/>
          <a:p>
            <a:pPr indent="0" marL="0">
              <a:buNone/>
            </a:pPr>
            <a:r>
              <a:rPr lang="en-US" sz="1400" dirty="0">
                <a:solidFill>
                  <a:srgbClr val="E2E8F0"/>
                </a:solidFill>
                <a:latin typeface="Calibri" pitchFamily="34" charset="0"/>
                <a:ea typeface="Calibri" pitchFamily="34" charset="-122"/>
                <a:cs typeface="Calibri" pitchFamily="34" charset="-120"/>
              </a:rPr>
              <a:t>A failed PostgreSQL connection logs a warning and activates SQLite, so the app keeps running instead of crashing.</a:t>
            </a:r>
            <a:endParaRPr lang="en-US" sz="1400" dirty="0"/>
          </a:p>
        </p:txBody>
      </p:sp>
      <p:sp>
        <p:nvSpPr>
          <p:cNvPr id="49" name="Shape 43"/>
          <p:cNvSpPr/>
          <p:nvPr/>
        </p:nvSpPr>
        <p:spPr>
          <a:xfrm>
            <a:off x="457200" y="4846320"/>
            <a:ext cx="3575304" cy="1371600"/>
          </a:xfrm>
          <a:prstGeom prst="roundRect">
            <a:avLst>
              <a:gd name="adj" fmla="val 6667"/>
            </a:avLst>
          </a:prstGeom>
          <a:solidFill>
            <a:srgbClr val="151D4D"/>
          </a:solidFill>
          <a:ln w="12700">
            <a:solidFill>
              <a:srgbClr val="34458A"/>
            </a:solidFill>
            <a:prstDash val="solid"/>
          </a:ln>
        </p:spPr>
      </p:sp>
      <p:sp>
        <p:nvSpPr>
          <p:cNvPr id="50" name="Text 44"/>
          <p:cNvSpPr txBox="1"/>
          <p:nvPr/>
        </p:nvSpPr>
        <p:spPr>
          <a:xfrm>
            <a:off x="685800" y="4983480"/>
            <a:ext cx="310896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SECRETS</a:t>
            </a:r>
            <a:endParaRPr lang="en-US" sz="1100" dirty="0"/>
          </a:p>
        </p:txBody>
      </p:sp>
      <p:sp>
        <p:nvSpPr>
          <p:cNvPr id="51" name="Text 45"/>
          <p:cNvSpPr txBox="1"/>
          <p:nvPr/>
        </p:nvSpPr>
        <p:spPr>
          <a:xfrm>
            <a:off x="685800" y="5303520"/>
            <a:ext cx="3154680" cy="822960"/>
          </a:xfrm>
          <a:prstGeom prst="rect">
            <a:avLst/>
          </a:prstGeom>
          <a:noFill/>
          <a:ln/>
        </p:spPr>
        <p:txBody>
          <a:bodyPr wrap="square" lIns="0" tIns="0" rIns="0" bIns="0" rtlCol="0" anchor="t"/>
          <a:lstStyle/>
          <a:p>
            <a:pPr indent="0" marL="0">
              <a:buNone/>
            </a:pPr>
            <a:r>
              <a:rPr lang="en-US" sz="1300" dirty="0">
                <a:solidFill>
                  <a:srgbClr val="E2E8F0"/>
                </a:solidFill>
                <a:latin typeface="Calibri" pitchFamily="34" charset="0"/>
                <a:ea typeface="Calibri" pitchFamily="34" charset="-122"/>
                <a:cs typeface="Calibri" pitchFamily="34" charset="-120"/>
              </a:rPr>
              <a:t>DATABASE_URL via st.secrets or env; .env and *.db are git-ignored</a:t>
            </a:r>
            <a:endParaRPr lang="en-US" sz="1300" dirty="0"/>
          </a:p>
        </p:txBody>
      </p:sp>
      <p:sp>
        <p:nvSpPr>
          <p:cNvPr id="52" name="Shape 46"/>
          <p:cNvSpPr/>
          <p:nvPr/>
        </p:nvSpPr>
        <p:spPr>
          <a:xfrm>
            <a:off x="4306824" y="4846320"/>
            <a:ext cx="3575304" cy="1371600"/>
          </a:xfrm>
          <a:prstGeom prst="roundRect">
            <a:avLst>
              <a:gd name="adj" fmla="val 6667"/>
            </a:avLst>
          </a:prstGeom>
          <a:solidFill>
            <a:srgbClr val="151D4D"/>
          </a:solidFill>
          <a:ln w="12700">
            <a:solidFill>
              <a:srgbClr val="34458A"/>
            </a:solidFill>
            <a:prstDash val="solid"/>
          </a:ln>
        </p:spPr>
      </p:sp>
      <p:sp>
        <p:nvSpPr>
          <p:cNvPr id="53" name="Text 47"/>
          <p:cNvSpPr txBox="1"/>
          <p:nvPr/>
        </p:nvSpPr>
        <p:spPr>
          <a:xfrm>
            <a:off x="4535424" y="4983480"/>
            <a:ext cx="310896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CONFIG</a:t>
            </a:r>
            <a:endParaRPr lang="en-US" sz="1100" dirty="0"/>
          </a:p>
        </p:txBody>
      </p:sp>
      <p:sp>
        <p:nvSpPr>
          <p:cNvPr id="54" name="Text 48"/>
          <p:cNvSpPr txBox="1"/>
          <p:nvPr/>
        </p:nvSpPr>
        <p:spPr>
          <a:xfrm>
            <a:off x="4535424" y="5303520"/>
            <a:ext cx="3154680" cy="822960"/>
          </a:xfrm>
          <a:prstGeom prst="rect">
            <a:avLst/>
          </a:prstGeom>
          <a:noFill/>
          <a:ln/>
        </p:spPr>
        <p:txBody>
          <a:bodyPr wrap="square" lIns="0" tIns="0" rIns="0" bIns="0" rtlCol="0" anchor="t"/>
          <a:lstStyle/>
          <a:p>
            <a:pPr indent="0" marL="0">
              <a:buNone/>
            </a:pPr>
            <a:r>
              <a:rPr lang="en-US" sz="1300" dirty="0">
                <a:solidFill>
                  <a:srgbClr val="E2E8F0"/>
                </a:solidFill>
                <a:latin typeface="Calibri" pitchFamily="34" charset="0"/>
                <a:ea typeface="Calibri" pitchFamily="34" charset="-122"/>
                <a:cs typeface="Calibri" pitchFamily="34" charset="-120"/>
              </a:rPr>
              <a:t>.streamlit/config.toml: headless on, usage stats off</a:t>
            </a:r>
            <a:endParaRPr lang="en-US" sz="1300" dirty="0"/>
          </a:p>
        </p:txBody>
      </p:sp>
      <p:sp>
        <p:nvSpPr>
          <p:cNvPr id="55" name="Shape 49"/>
          <p:cNvSpPr/>
          <p:nvPr/>
        </p:nvSpPr>
        <p:spPr>
          <a:xfrm>
            <a:off x="8156448" y="4846320"/>
            <a:ext cx="3575304" cy="1371600"/>
          </a:xfrm>
          <a:prstGeom prst="roundRect">
            <a:avLst>
              <a:gd name="adj" fmla="val 6667"/>
            </a:avLst>
          </a:prstGeom>
          <a:solidFill>
            <a:srgbClr val="151D4D"/>
          </a:solidFill>
          <a:ln w="12700">
            <a:solidFill>
              <a:srgbClr val="34458A"/>
            </a:solidFill>
            <a:prstDash val="solid"/>
          </a:ln>
        </p:spPr>
      </p:sp>
      <p:sp>
        <p:nvSpPr>
          <p:cNvPr id="56" name="Text 50"/>
          <p:cNvSpPr txBox="1"/>
          <p:nvPr/>
        </p:nvSpPr>
        <p:spPr>
          <a:xfrm>
            <a:off x="8385048" y="4983480"/>
            <a:ext cx="310896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BUILD</a:t>
            </a:r>
            <a:endParaRPr lang="en-US" sz="1100" dirty="0"/>
          </a:p>
        </p:txBody>
      </p:sp>
      <p:sp>
        <p:nvSpPr>
          <p:cNvPr id="57" name="Text 51"/>
          <p:cNvSpPr txBox="1"/>
          <p:nvPr/>
        </p:nvSpPr>
        <p:spPr>
          <a:xfrm>
            <a:off x="8385048" y="5303520"/>
            <a:ext cx="3154680" cy="822960"/>
          </a:xfrm>
          <a:prstGeom prst="rect">
            <a:avLst/>
          </a:prstGeom>
          <a:noFill/>
          <a:ln/>
        </p:spPr>
        <p:txBody>
          <a:bodyPr wrap="square" lIns="0" tIns="0" rIns="0" bIns="0" rtlCol="0" anchor="t"/>
          <a:lstStyle/>
          <a:p>
            <a:pPr indent="0" marL="0">
              <a:buNone/>
            </a:pPr>
            <a:r>
              <a:rPr lang="en-US" sz="1300" dirty="0">
                <a:solidFill>
                  <a:srgbClr val="E2E8F0"/>
                </a:solidFill>
                <a:latin typeface="Calibri" pitchFamily="34" charset="0"/>
                <a:ea typeface="Calibri" pitchFamily="34" charset="-122"/>
                <a:cs typeface="Calibri" pitchFamily="34" charset="-120"/>
              </a:rPr>
              <a:t>requirements.txt dependencies; no Dockerfile yet (planned)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Wealth Milestones &amp; Data Portability</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30000" y="6473952"/>
            <a:ext cx="128016" cy="128016"/>
          </a:xfrm>
          <a:prstGeom prst="ellipse">
            <a:avLst/>
          </a:prstGeom>
          <a:solidFill>
            <a:srgbClr val="38BDF8"/>
          </a:solidFill>
          <a:ln w="12700">
            <a:solidFill>
              <a:srgbClr val="38BDF8"/>
            </a:solidFill>
            <a:prstDash val="solid"/>
          </a:ln>
        </p:spPr>
      </p:sp>
      <p:sp>
        <p:nvSpPr>
          <p:cNvPr id="17" name="Shape 15"/>
          <p:cNvSpPr/>
          <p:nvPr/>
        </p:nvSpPr>
        <p:spPr>
          <a:xfrm>
            <a:off x="11612880" y="6492240"/>
            <a:ext cx="91440" cy="91440"/>
          </a:xfrm>
          <a:prstGeom prst="ellipse">
            <a:avLst/>
          </a:prstGeom>
          <a:solidFill>
            <a:srgbClr val="34458A"/>
          </a:solidFill>
          <a:ln w="12700">
            <a:solidFill>
              <a:srgbClr val="34458A"/>
            </a:solidFill>
            <a:prstDash val="solid"/>
          </a:ln>
        </p:spPr>
      </p:sp>
      <p:sp>
        <p:nvSpPr>
          <p:cNvPr id="18" name="Shape 16"/>
          <p:cNvSpPr/>
          <p:nvPr/>
        </p:nvSpPr>
        <p:spPr>
          <a:xfrm>
            <a:off x="457200" y="1234440"/>
            <a:ext cx="5404104" cy="3505454"/>
          </a:xfrm>
          <a:prstGeom prst="roundRect">
            <a:avLst>
              <a:gd name="adj" fmla="val 2609"/>
            </a:avLst>
          </a:prstGeom>
          <a:solidFill>
            <a:srgbClr val="151D4D"/>
          </a:solidFill>
          <a:ln w="15875">
            <a:solidFill>
              <a:srgbClr val="4169E1"/>
            </a:solidFill>
            <a:prstDash val="solid"/>
          </a:ln>
        </p:spPr>
      </p:sp>
      <p:pic>
        <p:nvPicPr>
          <p:cNvPr id="19" name="Image 0" descr="/home/claude/deck/08_savings_goals.jpg">    </p:cNvPr>
          <p:cNvPicPr>
            <a:picLocks noChangeAspect="1"/>
          </p:cNvPicPr>
          <p:nvPr/>
        </p:nvPicPr>
        <p:blipFill>
          <a:blip r:embed="rId1"/>
          <a:stretch>
            <a:fillRect/>
          </a:stretch>
        </p:blipFill>
        <p:spPr>
          <a:xfrm>
            <a:off x="530352" y="1307592"/>
            <a:ext cx="5257800" cy="3359150"/>
          </a:xfrm>
          <a:prstGeom prst="rect">
            <a:avLst/>
          </a:prstGeom>
        </p:spPr>
      </p:pic>
      <p:sp>
        <p:nvSpPr>
          <p:cNvPr id="20" name="Shape 17"/>
          <p:cNvSpPr/>
          <p:nvPr/>
        </p:nvSpPr>
        <p:spPr>
          <a:xfrm>
            <a:off x="6263640" y="1234440"/>
            <a:ext cx="5404104" cy="3505454"/>
          </a:xfrm>
          <a:prstGeom prst="roundRect">
            <a:avLst>
              <a:gd name="adj" fmla="val 2609"/>
            </a:avLst>
          </a:prstGeom>
          <a:solidFill>
            <a:srgbClr val="151D4D"/>
          </a:solidFill>
          <a:ln w="15875">
            <a:solidFill>
              <a:srgbClr val="4169E1"/>
            </a:solidFill>
            <a:prstDash val="solid"/>
          </a:ln>
        </p:spPr>
      </p:sp>
      <p:pic>
        <p:nvPicPr>
          <p:cNvPr id="21" name="Image 1" descr="/home/claude/deck/09_import_export_hub.jpg">    </p:cNvPr>
          <p:cNvPicPr>
            <a:picLocks noChangeAspect="1"/>
          </p:cNvPicPr>
          <p:nvPr/>
        </p:nvPicPr>
        <p:blipFill>
          <a:blip r:embed="rId2"/>
          <a:stretch>
            <a:fillRect/>
          </a:stretch>
        </p:blipFill>
        <p:spPr>
          <a:xfrm>
            <a:off x="6336792" y="1307592"/>
            <a:ext cx="5257800" cy="3359150"/>
          </a:xfrm>
          <a:prstGeom prst="rect">
            <a:avLst/>
          </a:prstGeom>
        </p:spPr>
      </p:pic>
      <p:sp>
        <p:nvSpPr>
          <p:cNvPr id="22" name="Shape 18"/>
          <p:cNvSpPr/>
          <p:nvPr/>
        </p:nvSpPr>
        <p:spPr>
          <a:xfrm>
            <a:off x="457200" y="4922774"/>
            <a:ext cx="5404104" cy="1295146"/>
          </a:xfrm>
          <a:prstGeom prst="roundRect">
            <a:avLst>
              <a:gd name="adj" fmla="val 7060"/>
            </a:avLst>
          </a:prstGeom>
          <a:solidFill>
            <a:srgbClr val="151D4D"/>
          </a:solidFill>
          <a:ln w="12700">
            <a:solidFill>
              <a:srgbClr val="34458A"/>
            </a:solidFill>
            <a:prstDash val="solid"/>
          </a:ln>
        </p:spPr>
      </p:sp>
      <p:sp>
        <p:nvSpPr>
          <p:cNvPr id="23" name="Text 19"/>
          <p:cNvSpPr txBox="1"/>
          <p:nvPr/>
        </p:nvSpPr>
        <p:spPr>
          <a:xfrm>
            <a:off x="685800" y="5059934"/>
            <a:ext cx="5029200" cy="111226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Emergency Fund: 65.0% (₹6,500 of ₹10,000)</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Japan Vacation: 51.4% (₹1,800 of ₹3,500)</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New Macbook Pro: 100%, completed</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Deposit popover logs funds per goal</a:t>
            </a:r>
            <a:endParaRPr lang="en-US" sz="1300" dirty="0"/>
          </a:p>
        </p:txBody>
      </p:sp>
      <p:sp>
        <p:nvSpPr>
          <p:cNvPr id="24" name="Shape 20"/>
          <p:cNvSpPr/>
          <p:nvPr/>
        </p:nvSpPr>
        <p:spPr>
          <a:xfrm>
            <a:off x="6263640" y="4922774"/>
            <a:ext cx="5468112" cy="1295146"/>
          </a:xfrm>
          <a:prstGeom prst="roundRect">
            <a:avLst>
              <a:gd name="adj" fmla="val 7060"/>
            </a:avLst>
          </a:prstGeom>
          <a:solidFill>
            <a:srgbClr val="151D4D"/>
          </a:solidFill>
          <a:ln w="12700">
            <a:solidFill>
              <a:srgbClr val="34458A"/>
            </a:solidFill>
            <a:prstDash val="solid"/>
          </a:ln>
        </p:spPr>
      </p:sp>
      <p:sp>
        <p:nvSpPr>
          <p:cNvPr id="25" name="Text 21"/>
          <p:cNvSpPr txBox="1"/>
          <p:nvPr/>
        </p:nvSpPr>
        <p:spPr>
          <a:xfrm>
            <a:off x="6492240" y="5059934"/>
            <a:ext cx="5120640" cy="111226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Drag-and-drop CSV/XLSX, up to 200MB</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Schema validation and sample CSV template</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Multi-sheet Excel (OpenPyXL) and CSV export</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Branded multi-page PDF (FPDF2) with audit log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D2B"/>
        </a:solidFill>
      </p:bgPr>
    </p:bg>
    <p:spTree>
      <p:nvGrpSpPr>
        <p:cNvPr id="1" name=""/>
        <p:cNvGrpSpPr/>
        <p:nvPr/>
      </p:nvGrpSpPr>
      <p:grpSpPr>
        <a:xfrm>
          <a:off x="0" y="0"/>
          <a:ext cx="0" cy="0"/>
          <a:chOff x="0" y="0"/>
          <a:chExt cx="0" cy="0"/>
        </a:xfrm>
      </p:grpSpPr>
      <p:sp>
        <p:nvSpPr>
          <p:cNvPr id="2" name="Text 0"/>
          <p:cNvSpPr txBox="1"/>
          <p:nvPr/>
        </p:nvSpPr>
        <p:spPr>
          <a:xfrm>
            <a:off x="457200" y="274320"/>
            <a:ext cx="10332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Summary: Strengths, Metrics &amp; Roadmap</a:t>
            </a:r>
            <a:endParaRPr lang="en-US" sz="2800" dirty="0"/>
          </a:p>
        </p:txBody>
      </p:sp>
      <p:sp>
        <p:nvSpPr>
          <p:cNvPr id="3" name="Shape 1"/>
          <p:cNvSpPr/>
          <p:nvPr/>
        </p:nvSpPr>
        <p:spPr>
          <a:xfrm>
            <a:off x="11228832" y="347472"/>
            <a:ext cx="502920" cy="502920"/>
          </a:xfrm>
          <a:prstGeom prst="ellipse">
            <a:avLst/>
          </a:prstGeom>
          <a:solidFill>
            <a:srgbClr val="4169E1"/>
          </a:solidFill>
          <a:ln w="12700">
            <a:solidFill>
              <a:srgbClr val="4169E1"/>
            </a:solidFill>
            <a:prstDash val="solid"/>
          </a:ln>
        </p:spPr>
      </p:sp>
      <p:sp>
        <p:nvSpPr>
          <p:cNvPr id="4" name="Text 2"/>
          <p:cNvSpPr txBox="1"/>
          <p:nvPr/>
        </p:nvSpPr>
        <p:spPr>
          <a:xfrm>
            <a:off x="11228832" y="3474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 name="Text 3"/>
          <p:cNvSpPr txBox="1"/>
          <p:nvPr/>
        </p:nvSpPr>
        <p:spPr>
          <a:xfrm>
            <a:off x="457200" y="6428232"/>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Personal Expense Tracker  |  Finance &amp; Intelligence Platform</a:t>
            </a:r>
            <a:endParaRPr lang="en-US" sz="1000" dirty="0"/>
          </a:p>
        </p:txBody>
      </p:sp>
      <p:sp>
        <p:nvSpPr>
          <p:cNvPr id="6" name="Shape 4"/>
          <p:cNvSpPr/>
          <p:nvPr/>
        </p:nvSpPr>
        <p:spPr>
          <a:xfrm>
            <a:off x="9802368" y="6492240"/>
            <a:ext cx="91440" cy="91440"/>
          </a:xfrm>
          <a:prstGeom prst="ellipse">
            <a:avLst/>
          </a:prstGeom>
          <a:solidFill>
            <a:srgbClr val="34458A"/>
          </a:solidFill>
          <a:ln w="12700">
            <a:solidFill>
              <a:srgbClr val="34458A"/>
            </a:solidFill>
            <a:prstDash val="solid"/>
          </a:ln>
        </p:spPr>
      </p:sp>
      <p:sp>
        <p:nvSpPr>
          <p:cNvPr id="7" name="Shape 5"/>
          <p:cNvSpPr/>
          <p:nvPr/>
        </p:nvSpPr>
        <p:spPr>
          <a:xfrm>
            <a:off x="9966960" y="6492240"/>
            <a:ext cx="91440" cy="91440"/>
          </a:xfrm>
          <a:prstGeom prst="ellipse">
            <a:avLst/>
          </a:prstGeom>
          <a:solidFill>
            <a:srgbClr val="34458A"/>
          </a:solidFill>
          <a:ln w="12700">
            <a:solidFill>
              <a:srgbClr val="34458A"/>
            </a:solidFill>
            <a:prstDash val="solid"/>
          </a:ln>
        </p:spPr>
      </p:sp>
      <p:sp>
        <p:nvSpPr>
          <p:cNvPr id="8" name="Shape 6"/>
          <p:cNvSpPr/>
          <p:nvPr/>
        </p:nvSpPr>
        <p:spPr>
          <a:xfrm>
            <a:off x="10131552" y="6492240"/>
            <a:ext cx="91440" cy="91440"/>
          </a:xfrm>
          <a:prstGeom prst="ellipse">
            <a:avLst/>
          </a:prstGeom>
          <a:solidFill>
            <a:srgbClr val="34458A"/>
          </a:solidFill>
          <a:ln w="12700">
            <a:solidFill>
              <a:srgbClr val="34458A"/>
            </a:solidFill>
            <a:prstDash val="solid"/>
          </a:ln>
        </p:spPr>
      </p:sp>
      <p:sp>
        <p:nvSpPr>
          <p:cNvPr id="9" name="Shape 7"/>
          <p:cNvSpPr/>
          <p:nvPr/>
        </p:nvSpPr>
        <p:spPr>
          <a:xfrm>
            <a:off x="10296144" y="6492240"/>
            <a:ext cx="91440" cy="91440"/>
          </a:xfrm>
          <a:prstGeom prst="ellipse">
            <a:avLst/>
          </a:prstGeom>
          <a:solidFill>
            <a:srgbClr val="34458A"/>
          </a:solidFill>
          <a:ln w="12700">
            <a:solidFill>
              <a:srgbClr val="34458A"/>
            </a:solidFill>
            <a:prstDash val="solid"/>
          </a:ln>
        </p:spPr>
      </p:sp>
      <p:sp>
        <p:nvSpPr>
          <p:cNvPr id="10" name="Shape 8"/>
          <p:cNvSpPr/>
          <p:nvPr/>
        </p:nvSpPr>
        <p:spPr>
          <a:xfrm>
            <a:off x="10460736" y="6492240"/>
            <a:ext cx="91440" cy="91440"/>
          </a:xfrm>
          <a:prstGeom prst="ellipse">
            <a:avLst/>
          </a:prstGeom>
          <a:solidFill>
            <a:srgbClr val="34458A"/>
          </a:solidFill>
          <a:ln w="12700">
            <a:solidFill>
              <a:srgbClr val="34458A"/>
            </a:solidFill>
            <a:prstDash val="solid"/>
          </a:ln>
        </p:spPr>
      </p:sp>
      <p:sp>
        <p:nvSpPr>
          <p:cNvPr id="11" name="Shape 9"/>
          <p:cNvSpPr/>
          <p:nvPr/>
        </p:nvSpPr>
        <p:spPr>
          <a:xfrm>
            <a:off x="10625328" y="6492240"/>
            <a:ext cx="91440" cy="91440"/>
          </a:xfrm>
          <a:prstGeom prst="ellipse">
            <a:avLst/>
          </a:prstGeom>
          <a:solidFill>
            <a:srgbClr val="34458A"/>
          </a:solidFill>
          <a:ln w="12700">
            <a:solidFill>
              <a:srgbClr val="34458A"/>
            </a:solidFill>
            <a:prstDash val="solid"/>
          </a:ln>
        </p:spPr>
      </p:sp>
      <p:sp>
        <p:nvSpPr>
          <p:cNvPr id="12" name="Shape 10"/>
          <p:cNvSpPr/>
          <p:nvPr/>
        </p:nvSpPr>
        <p:spPr>
          <a:xfrm>
            <a:off x="10789920" y="6492240"/>
            <a:ext cx="91440" cy="91440"/>
          </a:xfrm>
          <a:prstGeom prst="ellipse">
            <a:avLst/>
          </a:prstGeom>
          <a:solidFill>
            <a:srgbClr val="34458A"/>
          </a:solidFill>
          <a:ln w="12700">
            <a:solidFill>
              <a:srgbClr val="34458A"/>
            </a:solidFill>
            <a:prstDash val="solid"/>
          </a:ln>
        </p:spPr>
      </p:sp>
      <p:sp>
        <p:nvSpPr>
          <p:cNvPr id="13" name="Shape 11"/>
          <p:cNvSpPr/>
          <p:nvPr/>
        </p:nvSpPr>
        <p:spPr>
          <a:xfrm>
            <a:off x="10954512" y="6492240"/>
            <a:ext cx="91440" cy="91440"/>
          </a:xfrm>
          <a:prstGeom prst="ellipse">
            <a:avLst/>
          </a:prstGeom>
          <a:solidFill>
            <a:srgbClr val="34458A"/>
          </a:solidFill>
          <a:ln w="12700">
            <a:solidFill>
              <a:srgbClr val="34458A"/>
            </a:solidFill>
            <a:prstDash val="solid"/>
          </a:ln>
        </p:spPr>
      </p:sp>
      <p:sp>
        <p:nvSpPr>
          <p:cNvPr id="14" name="Shape 12"/>
          <p:cNvSpPr/>
          <p:nvPr/>
        </p:nvSpPr>
        <p:spPr>
          <a:xfrm>
            <a:off x="11119104" y="6492240"/>
            <a:ext cx="91440" cy="91440"/>
          </a:xfrm>
          <a:prstGeom prst="ellipse">
            <a:avLst/>
          </a:prstGeom>
          <a:solidFill>
            <a:srgbClr val="34458A"/>
          </a:solidFill>
          <a:ln w="12700">
            <a:solidFill>
              <a:srgbClr val="34458A"/>
            </a:solidFill>
            <a:prstDash val="solid"/>
          </a:ln>
        </p:spPr>
      </p:sp>
      <p:sp>
        <p:nvSpPr>
          <p:cNvPr id="15" name="Shape 13"/>
          <p:cNvSpPr/>
          <p:nvPr/>
        </p:nvSpPr>
        <p:spPr>
          <a:xfrm>
            <a:off x="11283696" y="6492240"/>
            <a:ext cx="91440" cy="91440"/>
          </a:xfrm>
          <a:prstGeom prst="ellipse">
            <a:avLst/>
          </a:prstGeom>
          <a:solidFill>
            <a:srgbClr val="34458A"/>
          </a:solidFill>
          <a:ln w="12700">
            <a:solidFill>
              <a:srgbClr val="34458A"/>
            </a:solidFill>
            <a:prstDash val="solid"/>
          </a:ln>
        </p:spPr>
      </p:sp>
      <p:sp>
        <p:nvSpPr>
          <p:cNvPr id="16" name="Shape 14"/>
          <p:cNvSpPr/>
          <p:nvPr/>
        </p:nvSpPr>
        <p:spPr>
          <a:xfrm>
            <a:off x="11448288" y="6492240"/>
            <a:ext cx="91440" cy="91440"/>
          </a:xfrm>
          <a:prstGeom prst="ellipse">
            <a:avLst/>
          </a:prstGeom>
          <a:solidFill>
            <a:srgbClr val="34458A"/>
          </a:solidFill>
          <a:ln w="12700">
            <a:solidFill>
              <a:srgbClr val="34458A"/>
            </a:solidFill>
            <a:prstDash val="solid"/>
          </a:ln>
        </p:spPr>
      </p:sp>
      <p:sp>
        <p:nvSpPr>
          <p:cNvPr id="17" name="Shape 15"/>
          <p:cNvSpPr/>
          <p:nvPr/>
        </p:nvSpPr>
        <p:spPr>
          <a:xfrm>
            <a:off x="11594592" y="6473952"/>
            <a:ext cx="128016" cy="128016"/>
          </a:xfrm>
          <a:prstGeom prst="ellipse">
            <a:avLst/>
          </a:prstGeom>
          <a:solidFill>
            <a:srgbClr val="38BDF8"/>
          </a:solidFill>
          <a:ln w="12700">
            <a:solidFill>
              <a:srgbClr val="38BDF8"/>
            </a:solidFill>
            <a:prstDash val="solid"/>
          </a:ln>
        </p:spPr>
      </p:sp>
      <p:sp>
        <p:nvSpPr>
          <p:cNvPr id="18" name="Shape 16"/>
          <p:cNvSpPr/>
          <p:nvPr/>
        </p:nvSpPr>
        <p:spPr>
          <a:xfrm>
            <a:off x="457200" y="1234440"/>
            <a:ext cx="3575304" cy="3749040"/>
          </a:xfrm>
          <a:prstGeom prst="roundRect">
            <a:avLst>
              <a:gd name="adj" fmla="val 2558"/>
            </a:avLst>
          </a:prstGeom>
          <a:solidFill>
            <a:srgbClr val="151D4D"/>
          </a:solidFill>
          <a:ln w="12700">
            <a:solidFill>
              <a:srgbClr val="34458A"/>
            </a:solidFill>
            <a:prstDash val="solid"/>
          </a:ln>
        </p:spPr>
      </p:sp>
      <p:sp>
        <p:nvSpPr>
          <p:cNvPr id="19" name="Text 17"/>
          <p:cNvSpPr txBox="1"/>
          <p:nvPr/>
        </p:nvSpPr>
        <p:spPr>
          <a:xfrm>
            <a:off x="685800" y="1371600"/>
            <a:ext cx="3108960" cy="228600"/>
          </a:xfrm>
          <a:prstGeom prst="rect">
            <a:avLst/>
          </a:prstGeom>
          <a:noFill/>
          <a:ln/>
        </p:spPr>
        <p:txBody>
          <a:bodyPr wrap="square" lIns="0" tIns="0" rIns="0" bIns="0" rtlCol="0" anchor="t"/>
          <a:lstStyle/>
          <a:p>
            <a:pPr indent="0" marL="0">
              <a:buNone/>
            </a:pPr>
            <a:r>
              <a:rPr lang="en-US" sz="1100" b="1" dirty="0">
                <a:solidFill>
                  <a:srgbClr val="10B981"/>
                </a:solidFill>
                <a:latin typeface="Calibri" pitchFamily="34" charset="0"/>
                <a:ea typeface="Calibri" pitchFamily="34" charset="-122"/>
                <a:cs typeface="Calibri" pitchFamily="34" charset="-120"/>
              </a:rPr>
              <a:t>VERIFIED STRENGTHS</a:t>
            </a:r>
            <a:endParaRPr lang="en-US" sz="1100" dirty="0"/>
          </a:p>
        </p:txBody>
      </p:sp>
      <p:pic>
        <p:nvPicPr>
          <p:cNvPr id="20" name="Image 0" descr="preencoded.png">    </p:cNvPr>
          <p:cNvPicPr>
            <a:picLocks noChangeAspect="1"/>
          </p:cNvPicPr>
          <p:nvPr/>
        </p:nvPicPr>
        <p:blipFill>
          <a:blip r:embed="rId1"/>
          <a:stretch>
            <a:fillRect/>
          </a:stretch>
        </p:blipFill>
        <p:spPr>
          <a:xfrm>
            <a:off x="685800" y="1856232"/>
            <a:ext cx="274320" cy="274320"/>
          </a:xfrm>
          <a:prstGeom prst="rect">
            <a:avLst/>
          </a:prstGeom>
        </p:spPr>
      </p:pic>
      <p:sp>
        <p:nvSpPr>
          <p:cNvPr id="21" name="Text 18"/>
          <p:cNvSpPr txBox="1"/>
          <p:nvPr/>
        </p:nvSpPr>
        <p:spPr>
          <a:xfrm>
            <a:off x="1097280" y="1783080"/>
            <a:ext cx="278892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6/6 unit tests pass (1.7 s)</a:t>
            </a:r>
            <a:endParaRPr lang="en-US" sz="1300" dirty="0"/>
          </a:p>
        </p:txBody>
      </p:sp>
      <p:pic>
        <p:nvPicPr>
          <p:cNvPr id="22" name="Image 1" descr="preencoded.png">    </p:cNvPr>
          <p:cNvPicPr>
            <a:picLocks noChangeAspect="1"/>
          </p:cNvPicPr>
          <p:nvPr/>
        </p:nvPicPr>
        <p:blipFill>
          <a:blip r:embed="rId2"/>
          <a:stretch>
            <a:fillRect/>
          </a:stretch>
        </p:blipFill>
        <p:spPr>
          <a:xfrm>
            <a:off x="685800" y="2478024"/>
            <a:ext cx="274320" cy="274320"/>
          </a:xfrm>
          <a:prstGeom prst="rect">
            <a:avLst/>
          </a:prstGeom>
        </p:spPr>
      </p:pic>
      <p:sp>
        <p:nvSpPr>
          <p:cNvPr id="23" name="Text 19"/>
          <p:cNvSpPr txBox="1"/>
          <p:nvPr/>
        </p:nvSpPr>
        <p:spPr>
          <a:xfrm>
            <a:off x="1097280" y="2404872"/>
            <a:ext cx="278892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Auto Postgres-to-SQLite fallback</a:t>
            </a:r>
            <a:endParaRPr lang="en-US" sz="1300" dirty="0"/>
          </a:p>
        </p:txBody>
      </p:sp>
      <p:pic>
        <p:nvPicPr>
          <p:cNvPr id="24" name="Image 2" descr="preencoded.png">    </p:cNvPr>
          <p:cNvPicPr>
            <a:picLocks noChangeAspect="1"/>
          </p:cNvPicPr>
          <p:nvPr/>
        </p:nvPicPr>
        <p:blipFill>
          <a:blip r:embed="rId3"/>
          <a:stretch>
            <a:fillRect/>
          </a:stretch>
        </p:blipFill>
        <p:spPr>
          <a:xfrm>
            <a:off x="685800" y="3099816"/>
            <a:ext cx="274320" cy="274320"/>
          </a:xfrm>
          <a:prstGeom prst="rect">
            <a:avLst/>
          </a:prstGeom>
        </p:spPr>
      </p:pic>
      <p:sp>
        <p:nvSpPr>
          <p:cNvPr id="25" name="Text 20"/>
          <p:cNvSpPr txBox="1"/>
          <p:nvPr/>
        </p:nvSpPr>
        <p:spPr>
          <a:xfrm>
            <a:off x="1097280" y="3026664"/>
            <a:ext cx="278892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PBKDF2-SHA256, 100k iterations, salted</a:t>
            </a:r>
            <a:endParaRPr lang="en-US" sz="1300" dirty="0"/>
          </a:p>
        </p:txBody>
      </p:sp>
      <p:pic>
        <p:nvPicPr>
          <p:cNvPr id="26" name="Image 3" descr="preencoded.png">    </p:cNvPr>
          <p:cNvPicPr>
            <a:picLocks noChangeAspect="1"/>
          </p:cNvPicPr>
          <p:nvPr/>
        </p:nvPicPr>
        <p:blipFill>
          <a:blip r:embed="rId4"/>
          <a:stretch>
            <a:fillRect/>
          </a:stretch>
        </p:blipFill>
        <p:spPr>
          <a:xfrm>
            <a:off x="685800" y="3721608"/>
            <a:ext cx="274320" cy="274320"/>
          </a:xfrm>
          <a:prstGeom prst="rect">
            <a:avLst/>
          </a:prstGeom>
        </p:spPr>
      </p:pic>
      <p:sp>
        <p:nvSpPr>
          <p:cNvPr id="27" name="Text 21"/>
          <p:cNvSpPr txBox="1"/>
          <p:nvPr/>
        </p:nvSpPr>
        <p:spPr>
          <a:xfrm>
            <a:off x="1097280" y="3648456"/>
            <a:ext cx="278892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Local queries under 5 ms (3,700+ rows)</a:t>
            </a:r>
            <a:endParaRPr lang="en-US" sz="1300" dirty="0"/>
          </a:p>
        </p:txBody>
      </p:sp>
      <p:pic>
        <p:nvPicPr>
          <p:cNvPr id="28" name="Image 4" descr="preencoded.png">    </p:cNvPr>
          <p:cNvPicPr>
            <a:picLocks noChangeAspect="1"/>
          </p:cNvPicPr>
          <p:nvPr/>
        </p:nvPicPr>
        <p:blipFill>
          <a:blip r:embed="rId5"/>
          <a:stretch>
            <a:fillRect/>
          </a:stretch>
        </p:blipFill>
        <p:spPr>
          <a:xfrm>
            <a:off x="685800" y="4343400"/>
            <a:ext cx="274320" cy="274320"/>
          </a:xfrm>
          <a:prstGeom prst="rect">
            <a:avLst/>
          </a:prstGeom>
        </p:spPr>
      </p:pic>
      <p:sp>
        <p:nvSpPr>
          <p:cNvPr id="29" name="Text 22"/>
          <p:cNvSpPr txBox="1"/>
          <p:nvPr/>
        </p:nvSpPr>
        <p:spPr>
          <a:xfrm>
            <a:off x="1097280" y="4270248"/>
            <a:ext cx="278892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ML forecast with confidence range</a:t>
            </a:r>
            <a:endParaRPr lang="en-US" sz="1300" dirty="0"/>
          </a:p>
        </p:txBody>
      </p:sp>
      <p:sp>
        <p:nvSpPr>
          <p:cNvPr id="30" name="Shape 23"/>
          <p:cNvSpPr/>
          <p:nvPr/>
        </p:nvSpPr>
        <p:spPr>
          <a:xfrm>
            <a:off x="4306824" y="1234440"/>
            <a:ext cx="3575304" cy="3749040"/>
          </a:xfrm>
          <a:prstGeom prst="roundRect">
            <a:avLst>
              <a:gd name="adj" fmla="val 2558"/>
            </a:avLst>
          </a:prstGeom>
          <a:solidFill>
            <a:srgbClr val="151D4D"/>
          </a:solidFill>
          <a:ln w="12700">
            <a:solidFill>
              <a:srgbClr val="34458A"/>
            </a:solidFill>
            <a:prstDash val="solid"/>
          </a:ln>
        </p:spPr>
      </p:sp>
      <p:sp>
        <p:nvSpPr>
          <p:cNvPr id="31" name="Text 24"/>
          <p:cNvSpPr txBox="1"/>
          <p:nvPr/>
        </p:nvSpPr>
        <p:spPr>
          <a:xfrm>
            <a:off x="4535424" y="1371600"/>
            <a:ext cx="3108960" cy="228600"/>
          </a:xfrm>
          <a:prstGeom prst="rect">
            <a:avLst/>
          </a:prstGeom>
          <a:noFill/>
          <a:ln/>
        </p:spPr>
        <p:txBody>
          <a:bodyPr wrap="square" lIns="0" tIns="0" rIns="0" bIns="0" rtlCol="0" anchor="t"/>
          <a:lstStyle/>
          <a:p>
            <a:pPr indent="0" marL="0">
              <a:buNone/>
            </a:pPr>
            <a:r>
              <a:rPr lang="en-US" sz="1100" b="1" dirty="0">
                <a:solidFill>
                  <a:srgbClr val="38BDF8"/>
                </a:solidFill>
                <a:latin typeface="Calibri" pitchFamily="34" charset="0"/>
                <a:ea typeface="Calibri" pitchFamily="34" charset="-122"/>
                <a:cs typeface="Calibri" pitchFamily="34" charset="-120"/>
              </a:rPr>
              <a:t>KEY METRICS</a:t>
            </a:r>
            <a:endParaRPr lang="en-US" sz="1100" dirty="0"/>
          </a:p>
        </p:txBody>
      </p:sp>
      <p:sp>
        <p:nvSpPr>
          <p:cNvPr id="32" name="Shape 25"/>
          <p:cNvSpPr/>
          <p:nvPr/>
        </p:nvSpPr>
        <p:spPr>
          <a:xfrm>
            <a:off x="4443984" y="1737360"/>
            <a:ext cx="1600200" cy="987552"/>
          </a:xfrm>
          <a:prstGeom prst="roundRect">
            <a:avLst>
              <a:gd name="adj" fmla="val 7407"/>
            </a:avLst>
          </a:prstGeom>
          <a:solidFill>
            <a:srgbClr val="0D1440"/>
          </a:solidFill>
          <a:ln w="12700">
            <a:solidFill>
              <a:srgbClr val="34458A"/>
            </a:solidFill>
            <a:prstDash val="solid"/>
          </a:ln>
        </p:spPr>
      </p:sp>
      <p:sp>
        <p:nvSpPr>
          <p:cNvPr id="33" name="Text 26"/>
          <p:cNvSpPr txBox="1"/>
          <p:nvPr/>
        </p:nvSpPr>
        <p:spPr>
          <a:xfrm>
            <a:off x="4443984" y="182880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10</a:t>
            </a:r>
            <a:endParaRPr lang="en-US" sz="2600" dirty="0"/>
          </a:p>
        </p:txBody>
      </p:sp>
      <p:sp>
        <p:nvSpPr>
          <p:cNvPr id="34" name="Text 27"/>
          <p:cNvSpPr txBox="1"/>
          <p:nvPr/>
        </p:nvSpPr>
        <p:spPr>
          <a:xfrm>
            <a:off x="4443984" y="237744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Modules</a:t>
            </a:r>
            <a:endParaRPr lang="en-US" sz="1100" dirty="0"/>
          </a:p>
        </p:txBody>
      </p:sp>
      <p:sp>
        <p:nvSpPr>
          <p:cNvPr id="35" name="Shape 28"/>
          <p:cNvSpPr/>
          <p:nvPr/>
        </p:nvSpPr>
        <p:spPr>
          <a:xfrm>
            <a:off x="6190488" y="1737360"/>
            <a:ext cx="1600200" cy="987552"/>
          </a:xfrm>
          <a:prstGeom prst="roundRect">
            <a:avLst>
              <a:gd name="adj" fmla="val 7407"/>
            </a:avLst>
          </a:prstGeom>
          <a:solidFill>
            <a:srgbClr val="0D1440"/>
          </a:solidFill>
          <a:ln w="12700">
            <a:solidFill>
              <a:srgbClr val="34458A"/>
            </a:solidFill>
            <a:prstDash val="solid"/>
          </a:ln>
        </p:spPr>
      </p:sp>
      <p:sp>
        <p:nvSpPr>
          <p:cNvPr id="36" name="Text 29"/>
          <p:cNvSpPr txBox="1"/>
          <p:nvPr/>
        </p:nvSpPr>
        <p:spPr>
          <a:xfrm>
            <a:off x="6190488" y="182880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9</a:t>
            </a:r>
            <a:endParaRPr lang="en-US" sz="2600" dirty="0"/>
          </a:p>
        </p:txBody>
      </p:sp>
      <p:sp>
        <p:nvSpPr>
          <p:cNvPr id="37" name="Text 30"/>
          <p:cNvSpPr txBox="1"/>
          <p:nvPr/>
        </p:nvSpPr>
        <p:spPr>
          <a:xfrm>
            <a:off x="6190488" y="237744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Pages</a:t>
            </a:r>
            <a:endParaRPr lang="en-US" sz="1100" dirty="0"/>
          </a:p>
        </p:txBody>
      </p:sp>
      <p:sp>
        <p:nvSpPr>
          <p:cNvPr id="38" name="Shape 31"/>
          <p:cNvSpPr/>
          <p:nvPr/>
        </p:nvSpPr>
        <p:spPr>
          <a:xfrm>
            <a:off x="4443984" y="2834640"/>
            <a:ext cx="1600200" cy="987552"/>
          </a:xfrm>
          <a:prstGeom prst="roundRect">
            <a:avLst>
              <a:gd name="adj" fmla="val 7407"/>
            </a:avLst>
          </a:prstGeom>
          <a:solidFill>
            <a:srgbClr val="0D1440"/>
          </a:solidFill>
          <a:ln w="12700">
            <a:solidFill>
              <a:srgbClr val="34458A"/>
            </a:solidFill>
            <a:prstDash val="solid"/>
          </a:ln>
        </p:spPr>
      </p:sp>
      <p:sp>
        <p:nvSpPr>
          <p:cNvPr id="39" name="Text 32"/>
          <p:cNvSpPr txBox="1"/>
          <p:nvPr/>
        </p:nvSpPr>
        <p:spPr>
          <a:xfrm>
            <a:off x="4443984" y="292608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5</a:t>
            </a:r>
            <a:endParaRPr lang="en-US" sz="2600" dirty="0"/>
          </a:p>
        </p:txBody>
      </p:sp>
      <p:sp>
        <p:nvSpPr>
          <p:cNvPr id="40" name="Text 33"/>
          <p:cNvSpPr txBox="1"/>
          <p:nvPr/>
        </p:nvSpPr>
        <p:spPr>
          <a:xfrm>
            <a:off x="4443984" y="347472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DB tables</a:t>
            </a:r>
            <a:endParaRPr lang="en-US" sz="1100" dirty="0"/>
          </a:p>
        </p:txBody>
      </p:sp>
      <p:sp>
        <p:nvSpPr>
          <p:cNvPr id="41" name="Shape 34"/>
          <p:cNvSpPr/>
          <p:nvPr/>
        </p:nvSpPr>
        <p:spPr>
          <a:xfrm>
            <a:off x="6190488" y="2834640"/>
            <a:ext cx="1600200" cy="987552"/>
          </a:xfrm>
          <a:prstGeom prst="roundRect">
            <a:avLst>
              <a:gd name="adj" fmla="val 7407"/>
            </a:avLst>
          </a:prstGeom>
          <a:solidFill>
            <a:srgbClr val="0D1440"/>
          </a:solidFill>
          <a:ln w="12700">
            <a:solidFill>
              <a:srgbClr val="34458A"/>
            </a:solidFill>
            <a:prstDash val="solid"/>
          </a:ln>
        </p:spPr>
      </p:sp>
      <p:sp>
        <p:nvSpPr>
          <p:cNvPr id="42" name="Text 35"/>
          <p:cNvSpPr txBox="1"/>
          <p:nvPr/>
        </p:nvSpPr>
        <p:spPr>
          <a:xfrm>
            <a:off x="6190488" y="292608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7</a:t>
            </a:r>
            <a:endParaRPr lang="en-US" sz="2600" dirty="0"/>
          </a:p>
        </p:txBody>
      </p:sp>
      <p:sp>
        <p:nvSpPr>
          <p:cNvPr id="43" name="Text 36"/>
          <p:cNvSpPr txBox="1"/>
          <p:nvPr/>
        </p:nvSpPr>
        <p:spPr>
          <a:xfrm>
            <a:off x="6190488" y="347472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Chart types</a:t>
            </a:r>
            <a:endParaRPr lang="en-US" sz="1100" dirty="0"/>
          </a:p>
        </p:txBody>
      </p:sp>
      <p:sp>
        <p:nvSpPr>
          <p:cNvPr id="44" name="Shape 37"/>
          <p:cNvSpPr/>
          <p:nvPr/>
        </p:nvSpPr>
        <p:spPr>
          <a:xfrm>
            <a:off x="4443984" y="3931920"/>
            <a:ext cx="1600200" cy="987552"/>
          </a:xfrm>
          <a:prstGeom prst="roundRect">
            <a:avLst>
              <a:gd name="adj" fmla="val 7407"/>
            </a:avLst>
          </a:prstGeom>
          <a:solidFill>
            <a:srgbClr val="0D1440"/>
          </a:solidFill>
          <a:ln w="12700">
            <a:solidFill>
              <a:srgbClr val="34458A"/>
            </a:solidFill>
            <a:prstDash val="solid"/>
          </a:ln>
        </p:spPr>
      </p:sp>
      <p:sp>
        <p:nvSpPr>
          <p:cNvPr id="45" name="Text 38"/>
          <p:cNvSpPr txBox="1"/>
          <p:nvPr/>
        </p:nvSpPr>
        <p:spPr>
          <a:xfrm>
            <a:off x="4443984" y="402336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6/6</a:t>
            </a:r>
            <a:endParaRPr lang="en-US" sz="2600" dirty="0"/>
          </a:p>
        </p:txBody>
      </p:sp>
      <p:sp>
        <p:nvSpPr>
          <p:cNvPr id="46" name="Text 39"/>
          <p:cNvSpPr txBox="1"/>
          <p:nvPr/>
        </p:nvSpPr>
        <p:spPr>
          <a:xfrm>
            <a:off x="4443984" y="457200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Tests</a:t>
            </a:r>
            <a:endParaRPr lang="en-US" sz="1100" dirty="0"/>
          </a:p>
        </p:txBody>
      </p:sp>
      <p:sp>
        <p:nvSpPr>
          <p:cNvPr id="47" name="Shape 40"/>
          <p:cNvSpPr/>
          <p:nvPr/>
        </p:nvSpPr>
        <p:spPr>
          <a:xfrm>
            <a:off x="6190488" y="3931920"/>
            <a:ext cx="1600200" cy="987552"/>
          </a:xfrm>
          <a:prstGeom prst="roundRect">
            <a:avLst>
              <a:gd name="adj" fmla="val 7407"/>
            </a:avLst>
          </a:prstGeom>
          <a:solidFill>
            <a:srgbClr val="0D1440"/>
          </a:solidFill>
          <a:ln w="12700">
            <a:solidFill>
              <a:srgbClr val="34458A"/>
            </a:solidFill>
            <a:prstDash val="solid"/>
          </a:ln>
        </p:spPr>
      </p:sp>
      <p:sp>
        <p:nvSpPr>
          <p:cNvPr id="48" name="Text 41"/>
          <p:cNvSpPr txBox="1"/>
          <p:nvPr/>
        </p:nvSpPr>
        <p:spPr>
          <a:xfrm>
            <a:off x="6190488" y="4023360"/>
            <a:ext cx="1600200"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3,721</a:t>
            </a:r>
            <a:endParaRPr lang="en-US" sz="2600" dirty="0"/>
          </a:p>
        </p:txBody>
      </p:sp>
      <p:sp>
        <p:nvSpPr>
          <p:cNvPr id="49" name="Text 42"/>
          <p:cNvSpPr txBox="1"/>
          <p:nvPr/>
        </p:nvSpPr>
        <p:spPr>
          <a:xfrm>
            <a:off x="6190488" y="4572000"/>
            <a:ext cx="1600200" cy="256032"/>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Demo records</a:t>
            </a:r>
            <a:endParaRPr lang="en-US" sz="1100" dirty="0"/>
          </a:p>
        </p:txBody>
      </p:sp>
      <p:sp>
        <p:nvSpPr>
          <p:cNvPr id="50" name="Shape 43"/>
          <p:cNvSpPr/>
          <p:nvPr/>
        </p:nvSpPr>
        <p:spPr>
          <a:xfrm>
            <a:off x="8156448" y="1234440"/>
            <a:ext cx="3575304" cy="3749040"/>
          </a:xfrm>
          <a:prstGeom prst="roundRect">
            <a:avLst>
              <a:gd name="adj" fmla="val 2558"/>
            </a:avLst>
          </a:prstGeom>
          <a:solidFill>
            <a:srgbClr val="151D4D"/>
          </a:solidFill>
          <a:ln w="12700">
            <a:solidFill>
              <a:srgbClr val="34458A"/>
            </a:solidFill>
            <a:prstDash val="solid"/>
          </a:ln>
        </p:spPr>
      </p:sp>
      <p:sp>
        <p:nvSpPr>
          <p:cNvPr id="51" name="Text 44"/>
          <p:cNvSpPr txBox="1"/>
          <p:nvPr/>
        </p:nvSpPr>
        <p:spPr>
          <a:xfrm>
            <a:off x="8385048" y="1371600"/>
            <a:ext cx="2011680" cy="228600"/>
          </a:xfrm>
          <a:prstGeom prst="rect">
            <a:avLst/>
          </a:prstGeom>
          <a:noFill/>
          <a:ln/>
        </p:spPr>
        <p:txBody>
          <a:bodyPr wrap="square" lIns="0" tIns="0" rIns="0" bIns="0" rtlCol="0" anchor="t"/>
          <a:lstStyle/>
          <a:p>
            <a:pPr indent="0" marL="0">
              <a:buNone/>
            </a:pPr>
            <a:r>
              <a:rPr lang="en-US" sz="1100" b="1" dirty="0">
                <a:solidFill>
                  <a:srgbClr val="C52DDB"/>
                </a:solidFill>
                <a:latin typeface="Calibri" pitchFamily="34" charset="0"/>
                <a:ea typeface="Calibri" pitchFamily="34" charset="-122"/>
                <a:cs typeface="Calibri" pitchFamily="34" charset="-120"/>
              </a:rPr>
              <a:t>FUTURE ROADMAP</a:t>
            </a:r>
            <a:endParaRPr lang="en-US" sz="1100" dirty="0"/>
          </a:p>
        </p:txBody>
      </p:sp>
      <p:sp>
        <p:nvSpPr>
          <p:cNvPr id="52" name="Shape 45"/>
          <p:cNvSpPr/>
          <p:nvPr/>
        </p:nvSpPr>
        <p:spPr>
          <a:xfrm>
            <a:off x="10561320" y="1335024"/>
            <a:ext cx="914400" cy="274320"/>
          </a:xfrm>
          <a:prstGeom prst="roundRect">
            <a:avLst>
              <a:gd name="adj" fmla="val 53333"/>
            </a:avLst>
          </a:prstGeom>
          <a:solidFill>
            <a:srgbClr val="C52DDB"/>
          </a:solidFill>
          <a:ln w="12700">
            <a:solidFill>
              <a:srgbClr val="C52DDB"/>
            </a:solidFill>
            <a:prstDash val="solid"/>
          </a:ln>
        </p:spPr>
      </p:sp>
      <p:sp>
        <p:nvSpPr>
          <p:cNvPr id="53" name="Text 46"/>
          <p:cNvSpPr txBox="1"/>
          <p:nvPr/>
        </p:nvSpPr>
        <p:spPr>
          <a:xfrm>
            <a:off x="10561320" y="1335024"/>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PLANNED</a:t>
            </a:r>
            <a:endParaRPr lang="en-US" sz="1100" dirty="0"/>
          </a:p>
        </p:txBody>
      </p:sp>
      <p:sp>
        <p:nvSpPr>
          <p:cNvPr id="54" name="Text 47"/>
          <p:cNvSpPr txBox="1"/>
          <p:nvPr/>
        </p:nvSpPr>
        <p:spPr>
          <a:xfrm>
            <a:off x="8385048" y="1828800"/>
            <a:ext cx="3200400" cy="30175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E2E8F0"/>
                </a:solidFill>
                <a:latin typeface="Calibri" pitchFamily="34" charset="0"/>
                <a:ea typeface="Calibri" pitchFamily="34" charset="-122"/>
                <a:cs typeface="Calibri" pitchFamily="34" charset="-120"/>
              </a:rPr>
              <a:t>MFA and email verification</a:t>
            </a:r>
            <a:endParaRPr lang="en-US" sz="1400" dirty="0"/>
          </a:p>
          <a:p>
            <a:pPr marL="342900" indent="-342900">
              <a:spcAft>
                <a:spcPts val="900"/>
              </a:spcAft>
              <a:buSzPct val="100000"/>
              <a:buChar char="•"/>
            </a:pPr>
            <a:r>
              <a:rPr lang="en-US" sz="1400" dirty="0">
                <a:solidFill>
                  <a:srgbClr val="E2E8F0"/>
                </a:solidFill>
                <a:latin typeface="Calibri" pitchFamily="34" charset="0"/>
                <a:ea typeface="Calibri" pitchFamily="34" charset="-122"/>
                <a:cs typeface="Calibri" pitchFamily="34" charset="-120"/>
              </a:rPr>
              <a:t>Open Banking API (Plaid)</a:t>
            </a:r>
            <a:endParaRPr lang="en-US" sz="1400" dirty="0"/>
          </a:p>
          <a:p>
            <a:pPr marL="342900" indent="-342900">
              <a:spcAft>
                <a:spcPts val="900"/>
              </a:spcAft>
              <a:buSzPct val="100000"/>
              <a:buChar char="•"/>
            </a:pPr>
            <a:r>
              <a:rPr lang="en-US" sz="1400" dirty="0">
                <a:solidFill>
                  <a:srgbClr val="E2E8F0"/>
                </a:solidFill>
                <a:latin typeface="Calibri" pitchFamily="34" charset="0"/>
                <a:ea typeface="Calibri" pitchFamily="34" charset="-122"/>
                <a:cs typeface="Calibri" pitchFamily="34" charset="-120"/>
              </a:rPr>
              <a:t>Async ML retraining workers</a:t>
            </a:r>
            <a:endParaRPr lang="en-US" sz="1400" dirty="0"/>
          </a:p>
          <a:p>
            <a:pPr marL="342900" indent="-342900">
              <a:spcAft>
                <a:spcPts val="900"/>
              </a:spcAft>
              <a:buSzPct val="100000"/>
              <a:buChar char="•"/>
            </a:pPr>
            <a:r>
              <a:rPr lang="en-US" sz="1400" dirty="0">
                <a:solidFill>
                  <a:srgbClr val="E2E8F0"/>
                </a:solidFill>
                <a:latin typeface="Calibri" pitchFamily="34" charset="0"/>
                <a:ea typeface="Calibri" pitchFamily="34" charset="-122"/>
                <a:cs typeface="Calibri" pitchFamily="34" charset="-120"/>
              </a:rPr>
              <a:t>Mobile-first interface</a:t>
            </a:r>
            <a:endParaRPr lang="en-US" sz="1400" dirty="0"/>
          </a:p>
          <a:p>
            <a:pPr marL="342900" indent="-342900">
              <a:spcAft>
                <a:spcPts val="900"/>
              </a:spcAft>
              <a:buSzPct val="100000"/>
              <a:buChar char="•"/>
            </a:pPr>
            <a:r>
              <a:rPr lang="en-US" sz="1400" dirty="0">
                <a:solidFill>
                  <a:srgbClr val="E2E8F0"/>
                </a:solidFill>
                <a:latin typeface="Calibri" pitchFamily="34" charset="0"/>
                <a:ea typeface="Calibri" pitchFamily="34" charset="-122"/>
                <a:cs typeface="Calibri" pitchFamily="34" charset="-120"/>
              </a:rPr>
              <a:t>Email/SMS spending alerts</a:t>
            </a:r>
            <a:endParaRPr lang="en-US" sz="1400" dirty="0"/>
          </a:p>
        </p:txBody>
      </p:sp>
      <p:sp>
        <p:nvSpPr>
          <p:cNvPr id="55" name="Shape 48"/>
          <p:cNvSpPr/>
          <p:nvPr/>
        </p:nvSpPr>
        <p:spPr>
          <a:xfrm>
            <a:off x="457200" y="5212080"/>
            <a:ext cx="11274552" cy="1005840"/>
          </a:xfrm>
          <a:prstGeom prst="roundRect">
            <a:avLst>
              <a:gd name="adj" fmla="val 9091"/>
            </a:avLst>
          </a:prstGeom>
          <a:solidFill>
            <a:srgbClr val="151D4D"/>
          </a:solidFill>
          <a:ln w="15875">
            <a:solidFill>
              <a:srgbClr val="F59E0B"/>
            </a:solidFill>
            <a:prstDash val="solid"/>
          </a:ln>
        </p:spPr>
      </p:sp>
      <p:sp>
        <p:nvSpPr>
          <p:cNvPr id="56" name="Text 49"/>
          <p:cNvSpPr txBox="1"/>
          <p:nvPr/>
        </p:nvSpPr>
        <p:spPr>
          <a:xfrm>
            <a:off x="685800" y="5321808"/>
            <a:ext cx="2743200" cy="228600"/>
          </a:xfrm>
          <a:prstGeom prst="rect">
            <a:avLst/>
          </a:prstGeom>
          <a:noFill/>
          <a:ln/>
        </p:spPr>
        <p:txBody>
          <a:bodyPr wrap="square" lIns="0" tIns="0" rIns="0" bIns="0" rtlCol="0" anchor="t"/>
          <a:lstStyle/>
          <a:p>
            <a:pPr indent="0" marL="0">
              <a:buNone/>
            </a:pPr>
            <a:r>
              <a:rPr lang="en-US" sz="1100" b="1" dirty="0">
                <a:solidFill>
                  <a:srgbClr val="F59E0B"/>
                </a:solidFill>
                <a:latin typeface="Calibri" pitchFamily="34" charset="0"/>
                <a:ea typeface="Calibri" pitchFamily="34" charset="-122"/>
                <a:cs typeface="Calibri" pitchFamily="34" charset="-120"/>
              </a:rPr>
              <a:t>KNOWN LIMITATIONS</a:t>
            </a:r>
            <a:endParaRPr lang="en-US" sz="1100" dirty="0"/>
          </a:p>
        </p:txBody>
      </p:sp>
      <p:sp>
        <p:nvSpPr>
          <p:cNvPr id="57" name="Text 50"/>
          <p:cNvSpPr txBox="1"/>
          <p:nvPr/>
        </p:nvSpPr>
        <p:spPr>
          <a:xfrm>
            <a:off x="685800" y="5669280"/>
            <a:ext cx="3474720" cy="457200"/>
          </a:xfrm>
          <a:prstGeom prst="rect">
            <a:avLst/>
          </a:prstGeom>
          <a:noFill/>
          <a:ln/>
        </p:spPr>
        <p:txBody>
          <a:bodyPr wrap="square" lIns="0" tIns="0" rIns="0" bIns="0" rtlCol="0" anchor="t"/>
          <a:lstStyle/>
          <a:p>
            <a:pPr indent="0" marL="0">
              <a:buNone/>
            </a:pPr>
            <a:r>
              <a:rPr lang="en-US" sz="1250" dirty="0">
                <a:solidFill>
                  <a:srgbClr val="E2E8F0"/>
                </a:solidFill>
                <a:latin typeface="Calibri" pitchFamily="34" charset="0"/>
                <a:ea typeface="Calibri" pitchFamily="34" charset="-122"/>
                <a:cs typeface="Calibri" pitchFamily="34" charset="-120"/>
              </a:rPr>
              <a:t>ML trains synchronously on page load (fast at current scale)</a:t>
            </a:r>
            <a:endParaRPr lang="en-US" sz="1250" dirty="0"/>
          </a:p>
        </p:txBody>
      </p:sp>
      <p:sp>
        <p:nvSpPr>
          <p:cNvPr id="58" name="Text 51"/>
          <p:cNvSpPr txBox="1"/>
          <p:nvPr/>
        </p:nvSpPr>
        <p:spPr>
          <a:xfrm>
            <a:off x="4389120" y="5669280"/>
            <a:ext cx="3474720" cy="457200"/>
          </a:xfrm>
          <a:prstGeom prst="rect">
            <a:avLst/>
          </a:prstGeom>
          <a:noFill/>
          <a:ln/>
        </p:spPr>
        <p:txBody>
          <a:bodyPr wrap="square" lIns="0" tIns="0" rIns="0" bIns="0" rtlCol="0" anchor="t"/>
          <a:lstStyle/>
          <a:p>
            <a:pPr indent="0" marL="0">
              <a:buNone/>
            </a:pPr>
            <a:r>
              <a:rPr lang="en-US" sz="1250" dirty="0">
                <a:solidFill>
                  <a:srgbClr val="E2E8F0"/>
                </a:solidFill>
                <a:latin typeface="Calibri" pitchFamily="34" charset="0"/>
                <a:ea typeface="Calibri" pitchFamily="34" charset="-122"/>
                <a:cs typeface="Calibri" pitchFamily="34" charset="-120"/>
              </a:rPr>
              <a:t>Session state is tab-scoped; hard refresh re-checks auth</a:t>
            </a:r>
            <a:endParaRPr lang="en-US" sz="1250" dirty="0"/>
          </a:p>
        </p:txBody>
      </p:sp>
      <p:sp>
        <p:nvSpPr>
          <p:cNvPr id="59" name="Text 52"/>
          <p:cNvSpPr txBox="1"/>
          <p:nvPr/>
        </p:nvSpPr>
        <p:spPr>
          <a:xfrm>
            <a:off x="8092440" y="5669280"/>
            <a:ext cx="3474720" cy="457200"/>
          </a:xfrm>
          <a:prstGeom prst="rect">
            <a:avLst/>
          </a:prstGeom>
          <a:noFill/>
          <a:ln/>
        </p:spPr>
        <p:txBody>
          <a:bodyPr wrap="square" lIns="0" tIns="0" rIns="0" bIns="0" rtlCol="0" anchor="t"/>
          <a:lstStyle/>
          <a:p>
            <a:pPr indent="0" marL="0">
              <a:buNone/>
            </a:pPr>
            <a:r>
              <a:rPr lang="en-US" sz="1250" dirty="0">
                <a:solidFill>
                  <a:srgbClr val="E2E8F0"/>
                </a:solidFill>
                <a:latin typeface="Calibri" pitchFamily="34" charset="0"/>
                <a:ea typeface="Calibri" pitchFamily="34" charset="-122"/>
                <a:cs typeface="Calibri" pitchFamily="34" charset="-120"/>
              </a:rPr>
              <a:t>No MFA or email verification yet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Expense Tracker - Finance &amp; Intelligence Platform</dc:title>
  <dc:subject>PptxGenJS Presentation</dc:subject>
  <dc:creator>PptxGenJS</dc:creator>
  <cp:lastModifiedBy>PptxGenJS</cp:lastModifiedBy>
  <cp:revision>1</cp:revision>
  <dcterms:created xsi:type="dcterms:W3CDTF">2026-10-01T10:17:25Z</dcterms:created>
  <dcterms:modified xsi:type="dcterms:W3CDTF">2026-10-01T10:17:25Z</dcterms:modified>
</cp:coreProperties>
</file>